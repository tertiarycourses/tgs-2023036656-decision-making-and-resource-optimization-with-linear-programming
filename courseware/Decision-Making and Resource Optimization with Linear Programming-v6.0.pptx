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 $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(0,0)</c:v>
                </c:pt>
                <c:pt idx="1">
                  <c:v>(25,0)</c:v>
                </c:pt>
                <c:pt idx="2">
                  <c:v>(0,50)</c:v>
                </c:pt>
                <c:pt idx="3">
                  <c:v>(25,37.5)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0</c:v>
                </c:pt>
                <c:pt idx="1">
                  <c:v>50</c:v>
                </c:pt>
                <c:pt idx="2">
                  <c:v>150</c:v>
                </c:pt>
                <c:pt idx="3">
                  <c:v>162.5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 $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Only vanilla (25,0)</c:v>
                </c:pt>
                <c:pt idx="1">
                  <c:v>Only chocolate (0,50)</c:v>
                </c:pt>
                <c:pt idx="2">
                  <c:v>Optimal mix (25,37.5)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50</c:v>
                </c:pt>
                <c:pt idx="1">
                  <c:v>150</c:v>
                </c:pt>
                <c:pt idx="2">
                  <c:v>162.5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profit $</c:v>
                </c:pt>
              </c:strCache>
            </c:strRef>
          </c:tx>
          <c:spPr>
            <a:ln w="31750"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8 kg</c:v>
                </c:pt>
                <c:pt idx="1">
                  <c:v>10 kg</c:v>
                </c:pt>
                <c:pt idx="2">
                  <c:v>12 kg</c:v>
                </c:pt>
                <c:pt idx="3">
                  <c:v>14 kg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132.5</c:v>
                </c:pt>
                <c:pt idx="1">
                  <c:v>162.5</c:v>
                </c:pt>
                <c:pt idx="2">
                  <c:v>192.5</c:v>
                </c:pt>
                <c:pt idx="3">
                  <c:v>222.5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$'000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Option 1</c:v>
                </c:pt>
                <c:pt idx="1">
                  <c:v>Option 2</c:v>
                </c:pt>
                <c:pt idx="2">
                  <c:v>Option 3</c:v>
                </c:pt>
                <c:pt idx="3">
                  <c:v>EVwPI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320</c:v>
                </c:pt>
                <c:pt idx="1">
                  <c:v>345</c:v>
                </c:pt>
                <c:pt idx="2">
                  <c:v>325</c:v>
                </c:pt>
                <c:pt idx="3">
                  <c:v>365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Option 1 EV</c:v>
                </c:pt>
              </c:strCache>
            </c:strRef>
          </c:tx>
          <c:spPr>
            <a:ln w="31750"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P(Fav)=0.2</c:v>
                </c:pt>
                <c:pt idx="1">
                  <c:v>P(Fav)=0.3</c:v>
                </c:pt>
                <c:pt idx="2">
                  <c:v>P(Fav)=0.4</c:v>
                </c:pt>
                <c:pt idx="3">
                  <c:v>P(Fav)=0.5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316</c:v>
                </c:pt>
                <c:pt idx="1">
                  <c:v>320</c:v>
                </c:pt>
                <c:pt idx="2">
                  <c:v>324</c:v>
                </c:pt>
                <c:pt idx="3">
                  <c:v>328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Option 2 EV</c:v>
                </c:pt>
              </c:strCache>
            </c:strRef>
          </c:tx>
          <c:spPr>
            <a:ln w="31750">
              <a:solidFill>
                <a:srgbClr val="10B981"/>
              </a:solidFill>
            </a:ln>
          </c:spPr>
          <c:cat>
            <c:strRef>
              <c:f>Sheet1!$A$2:$A$5</c:f>
              <c:strCache>
                <c:ptCount val="4"/>
                <c:pt idx="0">
                  <c:v>P(Fav)=0.2</c:v>
                </c:pt>
                <c:pt idx="1">
                  <c:v>P(Fav)=0.3</c:v>
                </c:pt>
                <c:pt idx="2">
                  <c:v>P(Fav)=0.4</c:v>
                </c:pt>
                <c:pt idx="3">
                  <c:v>P(Fav)=0.5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348</c:v>
                </c:pt>
                <c:pt idx="1">
                  <c:v>345</c:v>
                </c:pt>
                <c:pt idx="2">
                  <c:v>342</c:v>
                </c:pt>
                <c:pt idx="3">
                  <c:v>339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Risk-averse √x</c:v>
                </c:pt>
              </c:strCache>
            </c:strRef>
          </c:tx>
          <c:spPr>
            <a:ln w="31750"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0</c:v>
                </c:pt>
                <c:pt idx="1">
                  <c:v>5</c:v>
                </c:pt>
                <c:pt idx="2">
                  <c:v>7.07</c:v>
                </c:pt>
                <c:pt idx="3">
                  <c:v>8.66</c:v>
                </c:pt>
                <c:pt idx="4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Risk-neutral (linear)</c:v>
                </c:pt>
              </c:strCache>
            </c:strRef>
          </c:tx>
          <c:spPr>
            <a:ln w="31750">
              <a:solidFill>
                <a:srgbClr val="10B981"/>
              </a:solidFill>
            </a:ln>
          </c:spP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</c:strCache>
            </c:strRef>
          </c:cat>
          <c:val>
            <c:numRef>
              <c:f>Sheet1!$C$2:$C$6</c:f>
              <c:numCache>
                <c:formatCode>0.0</c:formatCode>
                <c:ptCount val="5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Risk-seeking (convex)</c:v>
                </c:pt>
              </c:strCache>
            </c:strRef>
          </c:tx>
          <c:spPr>
            <a:ln w="31750">
              <a:solidFill>
                <a:srgbClr val="7C3AED"/>
              </a:solidFill>
            </a:ln>
          </c:spP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</c:strCache>
            </c:strRef>
          </c:cat>
          <c:val>
            <c:numRef>
              <c:f>Sheet1!$D$2:$D$6</c:f>
              <c:numCache>
                <c:formatCode>0.0</c:formatCode>
                <c:ptCount val="5"/>
                <c:pt idx="0">
                  <c:v>0</c:v>
                </c:pt>
                <c:pt idx="1">
                  <c:v>0.63</c:v>
                </c:pt>
                <c:pt idx="2">
                  <c:v>2.5</c:v>
                </c:pt>
                <c:pt idx="3">
                  <c:v>5.6</c:v>
                </c:pt>
                <c:pt idx="4">
                  <c:v>10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value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Project A (safe)</c:v>
                </c:pt>
                <c:pt idx="1">
                  <c:v>Project B (risky)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Certainty equivalent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Sheet1!$A$2:$A$3</c:f>
              <c:strCache>
                <c:ptCount val="2"/>
                <c:pt idx="0">
                  <c:v>Project A (safe)</c:v>
                </c:pt>
                <c:pt idx="1">
                  <c:v>Project B (risky)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49.5</c:v>
                </c:pt>
                <c:pt idx="1">
                  <c:v>40.0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score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Supplier A</c:v>
                </c:pt>
                <c:pt idx="1">
                  <c:v>Supplier B</c:v>
                </c:pt>
                <c:pt idx="2">
                  <c:v>Supplier C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Cost</c:v>
                </c:pt>
                <c:pt idx="1">
                  <c:v>Quality</c:v>
                </c:pt>
                <c:pt idx="2">
                  <c:v>Delivery</c:v>
                </c:pt>
                <c:pt idx="3">
                  <c:v>Flexibility</c:v>
                </c:pt>
              </c:strCache>
            </c:strRef>
          </c:cat>
          <c:val>
            <c:numRef>
              <c:f>Sheet1!$B$2:$B$5</c:f>
              <c:numCache>
                <c:formatCode>0.000</c:formatCode>
                <c:ptCount val="4"/>
                <c:pt idx="0">
                  <c:v>0.398</c:v>
                </c:pt>
                <c:pt idx="1">
                  <c:v>0.085</c:v>
                </c:pt>
                <c:pt idx="2">
                  <c:v>0.218</c:v>
                </c:pt>
                <c:pt idx="3">
                  <c:v>0.299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Global priority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Plan P</c:v>
                </c:pt>
                <c:pt idx="1">
                  <c:v>Plan Q</c:v>
                </c:pt>
                <c:pt idx="2">
                  <c:v>Plan R</c:v>
                </c:pt>
              </c:strCache>
            </c:strRef>
          </c:cat>
          <c:val>
            <c:numRef>
              <c:f>Sheet1!$B$2:$B$4</c:f>
              <c:numCache>
                <c:formatCode>0.000</c:formatCode>
                <c:ptCount val="3"/>
                <c:pt idx="0">
                  <c:v>0.393</c:v>
                </c:pt>
                <c:pt idx="1">
                  <c:v>0.299</c:v>
                </c:pt>
                <c:pt idx="2">
                  <c:v>0.309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29800" y="603504"/>
            <a:ext cx="1691640" cy="1024128"/>
          </a:xfrm>
          <a:prstGeom prst="roundRect">
            <a:avLst>
              <a:gd name="adj" fmla="val 12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713232"/>
            <a:ext cx="1691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MAX 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18872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LP · DA · MCDA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Decision-Making and Resource Optimization with Linear Programming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WSQ Course Code: TGS-2023036656   ·   TSC: Resource Management (WST-SPI-4006-1.1-1)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v6.0  ·  28 Aug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SSG digital-attendance QR code (TRAQOM).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with your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Operations research, optimisation, data analytics and applied decision science.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WSQ courses on Linear Programming, decision analysis, statistics and data analytics with Excel.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APPROACH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Hands-on, spreadsheet-led — every method is built and solved live in Microsoft Excel.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How you currently plan or allocate resources (budget, staff, materials, time).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decision you make often that you would like to make more objectively.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comfort level with Microsoft Excel (we start from the basics of each tool).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25368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25368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71246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6808"/>
            <a:ext cx="397306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25368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25368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71246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6808"/>
            <a:ext cx="397306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67656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67656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5475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59096"/>
            <a:ext cx="397306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67656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67656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5475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59096"/>
            <a:ext cx="397306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 · 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34472" cy="457200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929384"/>
            <a:ext cx="164592" cy="164592"/>
          </a:xfrm>
          <a:prstGeom prst="ellipse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192938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2184" y="1929384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74520" y="1874520"/>
            <a:ext cx="92628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1874520"/>
            <a:ext cx="88971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🔒  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50008"/>
            <a:ext cx="9902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 in → open this course → Course Materials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2898648"/>
            <a:ext cx="4823460" cy="14310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2898648"/>
            <a:ext cx="82296" cy="14310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25880" y="3412998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12998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6232" y="2971800"/>
            <a:ext cx="3954780" cy="13213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Trainer Slides (PPT / PDF)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full deck for reference during the open-book assessment.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2492" y="2898648"/>
            <a:ext cx="4823460" cy="14310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2492" y="2898648"/>
            <a:ext cx="82296" cy="143103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5372" y="3412998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5372" y="3412998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5724" y="2971800"/>
            <a:ext cx="3954780" cy="13213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Learner Guide (PDF)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Step-by-step Excel Solver, Decision-Analysis and AHP procedures.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512564"/>
            <a:ext cx="4823460" cy="14310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" y="4512564"/>
            <a:ext cx="82296" cy="14310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5026914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026914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56232" y="4585716"/>
            <a:ext cx="3954780" cy="13213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Lesson Plan (PDF)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2-day schedule with topics, labs and timings.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22492" y="4512564"/>
            <a:ext cx="4823460" cy="14310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2492" y="4512564"/>
            <a:ext cx="82296" cy="14310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5372" y="5026914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5372" y="5026914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5724" y="4585716"/>
            <a:ext cx="3954780" cy="13213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Files (Excel + CSV)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Every lab workbook and sample data set, ready to open in Excel.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SKILLS FRAMEWORK  ·  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Resource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WST-SPI-4006-1.1-1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Proficiency &amp; duration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WSQ · 2 days (16 hours) · classroom + hands-on Excel practice.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Assessed by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Written Assessment (SAQ) for knowledge + Practical Performance for ability.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WHAT YOU WILL KNOW · TESTED BY THE WRITTEN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Underpinning Knowledge (K1-K3)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K1 — Resource management, allocation and optimisation tools and techniques.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2536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2536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71246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35096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K2 — The process to determine resource requirements for the organisation and the business unit.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67656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6765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5475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77384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K3 — Methods to optimise resource usage.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YOU WILL BE ABLE TO DO · TESTED BY THE PRACTICAL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Abilities (A1-A9)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6171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6171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resource management and allocation strategies.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7059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86171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86171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resource allocation plans to support the achievement of strategies.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08452"/>
            <a:ext cx="5180076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08452"/>
            <a:ext cx="91440" cy="7059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278709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27870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818180"/>
            <a:ext cx="3973068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Determine resource needs to support resource allocation planning.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708452"/>
            <a:ext cx="5180076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708452"/>
            <a:ext cx="91440" cy="7059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27870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27870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2818180"/>
            <a:ext cx="3973068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resource allocation plans to support business unit activities.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33824"/>
            <a:ext cx="5180076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633824"/>
            <a:ext cx="91440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371246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71246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3743552"/>
            <a:ext cx="3973068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procedures and systems to monitor and evaluate resource usage.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3633824"/>
            <a:ext cx="5180076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3633824"/>
            <a:ext cx="91440" cy="7059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371246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371246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3743552"/>
            <a:ext cx="3973068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resource usage to determine sufficiency and optimal utilisation.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59196"/>
            <a:ext cx="5180076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559196"/>
            <a:ext cx="91440" cy="7059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463783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463783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668924"/>
            <a:ext cx="3973068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A7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Propose improvements to optimise resource usage.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4559196"/>
            <a:ext cx="5180076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4559196"/>
            <a:ext cx="91440" cy="7059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463783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463783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4668924"/>
            <a:ext cx="3973068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A8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resource-management outcomes to ascertain refinements to the resource-allocation plan.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484568"/>
            <a:ext cx="5180076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484568"/>
            <a:ext cx="91440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" y="556320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" y="556320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4792" y="5594296"/>
            <a:ext cx="3973068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A9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resource-management Key Performance Indicators (KPIs).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Linear Programming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Develop a resource-management strategy and allocation plan using LP and the Excel Solver.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2536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2536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71246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35096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Decision Analysis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Develop an allocation plan and track resource usage using Expected Value and Expected Utility.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67656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6765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5475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77384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Multi-Criteria Decision Analysis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Evaluate performance and set KPIs using the scoring board and the Analytic Hierarchy Process.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TOPICS · EIGHT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1 — Optimisation &amp; Linear Programming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LP models · Excel Solver · binding constraints, shadow prices · sensitivity &amp; scenario analysis. Labs 1-3.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2536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2536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71246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35096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2 — Decision Analysis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Decision trees · Expected Value, EVwPI, EVPI · risk &amp; Expected Utility. Labs 4-5.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67656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6765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5475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77384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3 — Multi-Criteria Decision Analysis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Weighted scoring board · AHP pairwise comparison, consistency · integrated evaluation &amp; KPIs. Labs 6-8.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Hands-on in Excel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method is built and solved live in Microsoft Excel — bring a laptop.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Eight progressive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LP, Solver, sensitivity, EV, utility, scoring, AHP and integrated evaluation.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One running example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Lucy's Cupcakes, KAZO and supplier / plan cases carry through the course.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Guide + workbooks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Learner Guide has click-by-click steps; each lab ships a ready workbook.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1 — Linear Programming, the Excel Solver and Decision Analysis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Admin · Introductions · Skills framework &amp; outcomes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1: Linear Programming &amp; Excel Solver (Labs 1-3)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 begins: Decision Analysis &amp; EV (Lab 4)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9:00am–6:00pm · 1-hour lunch · tea breaks within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2 — Risk, Multi-Criteria Decision Analysis, AHP and Assessment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2: Risk &amp; Expected Utility (Lab 5)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3: MCDA, AHP &amp; integrated evaluation (Labs 6-8)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Briefing for Assessment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Final Assessment: WA (SAQ) 1h + PP 1h · TRAQOM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Two instruments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Written Assessment (SAQ) tests knowledge K1-K3; Practical Performance tests abilities A1-A9.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 may use the slides, Learner Guide and your lab workbooks.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Bring a laptop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Practical Performance is completed in Microsoft Excel; spare laptops are available.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75% attendance and a Competent result are required for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short-answer knowledge questions (K1-K3).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hands-on Excel tasks across LP, DA and MCDA (A1-A9).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Result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Competent / Not-Yet-Competent, with an appeal process available.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Assessment digital attendance (TRAQOM) before you start.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Optimisation and Linear Programming for Resource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297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LP models · decision variables, objective and constraints · Excel Solver · sensitivity and scenario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5 hrs · K1, A1, A2,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Key Concepts — Optimisation and Linear Programming for Resource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Optimisation frames resource management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the allocation of scarce resources that maximises profit or minimises cost, subject to the limits you actually face.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 Linear Programming model has three parts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Decision variables (what you choose), an objective function (what you optimise), and constraints (the resource limits).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25368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25368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71246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35096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Excel Solver solves the model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Simplex LP engine searches the feasible region for the corner point that optimises the objective — no manual algebra.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25368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25368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71246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35096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Sensitivity analysis makes the plan robust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Shadow prices value each resource; objective and right-hand-side ranges show how far data can move before the plan changes.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67656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67656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5475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77384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Diagnostics keep you honest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Infeasible, unbounded, degenerate and multiple-optima outcomes each have a cause and a fix you can recognise.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OPTIMISE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Optimisation in Resource Management?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Scarce resources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Budget, staff-hours, materials and machine time are always limited.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Competing uses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product or activity consumes resources and returns a benefit.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One best allocation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Optimisation finds the allocation that maximises benefit (or minimises cost) within the limits.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Linear Programming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When benefit and usage are proportional, the problem is a Linear Program — solvable exactly.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WHERE LP APPLIES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Resource-Allocation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Product mix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many of each product to make with limited materials and labour?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Budget allocation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to split a fixed budget across projects for the highest return?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Staff scheduling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to cover demand with the fewest staff-hours?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Blending / transport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to mix inputs or route supply at least cost?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THREE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 Linear Programming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1008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X1, X2, … ≥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you choose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93136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93136"/>
            <a:ext cx="109728" cy="1008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102864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OBJECTIVE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993136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Max (or Min)  Z = c1·X1 + c2·X2 + 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84576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you optimise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03192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03192"/>
            <a:ext cx="109728" cy="1008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312920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203192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a1·X1 + a2·X2 + … ≤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294632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resource limits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94960"/>
            <a:ext cx="10634472" cy="713232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394960"/>
            <a:ext cx="100584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04688"/>
            <a:ext cx="100858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IT AS  </a:t>
            </a:r>
            <a:r>
              <a:rPr sz="1200" b="0">
                <a:solidFill>
                  <a:srgbClr val="161B26"/>
                </a:solidFill>
                <a:latin typeface="Arial"/>
              </a:rPr>
              <a:t>choose the variables that optimise the objective without breaking any constraint.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GENERAL 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Linear Programming — Standard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1008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Maximise  Z = cᵀx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linear in the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93136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93136"/>
            <a:ext cx="109728" cy="1008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102864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SUBJECT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993136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A·x ≤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84576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resource capacity limits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03192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03192"/>
            <a:ext cx="109728" cy="1008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312920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203192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x ≥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294632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non-negativity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94960"/>
            <a:ext cx="10634472" cy="713232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394960"/>
            <a:ext cx="100584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04688"/>
            <a:ext cx="100858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IT AS  </a:t>
            </a:r>
            <a:r>
              <a:rPr sz="1200" b="0">
                <a:solidFill>
                  <a:srgbClr val="161B26"/>
                </a:solidFill>
                <a:latin typeface="Arial"/>
              </a:rPr>
              <a:t>every LP is decision variables x, a linear objective c, linear constraints A·x ≤ b, and x ≥ 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GEOMETRY OF 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Feasible Region &amp; the Corner-Point Theorem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Feasible region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set of all allocations that satisfy every constraint — a convex polygon.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Corners = vertices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corner is where constraint lines cross.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Optimum at a corner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If an optimum exists, at least one optimal solution sits at a corner point.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Solver is fast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Simplex only needs to check corners, not the infinite interior.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WHEN LP IS VALID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Five Assumptions Behind Every LP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Proportionality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Doubling a variable doubles its contribution and its resource 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Additivity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Total profit / usage is the sum across variables — no interaction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25368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25368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71246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35096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Divisibility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Fractional values are allowed (37.5 batches); use integer LP if not.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25368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25368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71246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35096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Certainty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Coefficients and limits are known constants (decision analysis handles uncertainty).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67656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67656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5475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77384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Non-negativity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cannot produce a negative quantity: X ≥ 0.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PROBLEM · TWO PRODUCTS, FOUR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Scenario — Lucy's Cupcakes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615720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34694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Resource / 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2960" y="1828800"/>
            <a:ext cx="233958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6112" y="18288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Vanilla X1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32543" y="1828800"/>
            <a:ext cx="233958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05695" y="18288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Chocolate X2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72126" y="1828800"/>
            <a:ext cx="233958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5278" y="18288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86000"/>
            <a:ext cx="3615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286000"/>
            <a:ext cx="34694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Profit per unit ($)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2960" y="2286000"/>
            <a:ext cx="2339583" cy="457200"/>
          </a:xfrm>
          <a:prstGeom prst="rect">
            <a:avLst/>
          </a:prstGeom>
          <a:solidFill>
            <a:srgbClr val="FFE4C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6112" y="22860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32543" y="2286000"/>
            <a:ext cx="2339583" cy="457200"/>
          </a:xfrm>
          <a:prstGeom prst="rect">
            <a:avLst/>
          </a:prstGeom>
          <a:solidFill>
            <a:srgbClr val="FFE4C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5695" y="22860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2126" y="2286000"/>
            <a:ext cx="233958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5278" y="22860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— maximise 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743200"/>
            <a:ext cx="36157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2743200"/>
            <a:ext cx="34694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Baking powder (kg)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2960" y="2743200"/>
            <a:ext cx="233958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6112" y="27432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32543" y="2743200"/>
            <a:ext cx="233958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5695" y="27432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72126" y="2743200"/>
            <a:ext cx="233958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5278" y="27432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200400"/>
            <a:ext cx="3615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3200400"/>
            <a:ext cx="34694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Man-hours (hr)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92960" y="3200400"/>
            <a:ext cx="233958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6112" y="32004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32543" y="3200400"/>
            <a:ext cx="233958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05695" y="32004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72126" y="3200400"/>
            <a:ext cx="233958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5278" y="32004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657600"/>
            <a:ext cx="36157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" y="3657600"/>
            <a:ext cx="34694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Vanilla demand (units)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92960" y="3657600"/>
            <a:ext cx="233958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66112" y="36576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32543" y="3657600"/>
            <a:ext cx="233958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05695" y="36576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72126" y="3657600"/>
            <a:ext cx="233958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5278" y="36576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114800"/>
            <a:ext cx="3615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4114800"/>
            <a:ext cx="34694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Chocolate demand (units)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92960" y="4114800"/>
            <a:ext cx="233958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66112" y="41148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32543" y="4114800"/>
            <a:ext cx="233958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05695" y="41148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72126" y="4114800"/>
            <a:ext cx="233958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5278" y="41148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60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718304"/>
            <a:ext cx="256032" cy="256032"/>
          </a:xfrm>
          <a:prstGeom prst="rect">
            <a:avLst/>
          </a:prstGeom>
          <a:solidFill>
            <a:srgbClr val="FFE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6424" y="47000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Profit to maximise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5102352"/>
            <a:ext cx="10634472" cy="603504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" y="5102352"/>
            <a:ext cx="100584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" y="5102352"/>
            <a:ext cx="100858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EVIDENCE  </a:t>
            </a:r>
            <a:r>
              <a:rPr sz="1200" b="0">
                <a:solidFill>
                  <a:srgbClr val="161B26"/>
                </a:solidFill>
                <a:latin typeface="Arial"/>
              </a:rPr>
              <a:t>Lucy bakes vanilla (X1) and chocolate (X2) cupcakes for a fair. How many of each maximises profit within the baking-powder, man-hour and demand limits?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1-2 · LUCY'S CUPCAKES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Formulating the Model — Variables &amp;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613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1613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2834640" cy="1394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5212080" cy="161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X1 = vanilla,  X2 = chocolate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057400" cy="1431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units to bake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98164"/>
            <a:ext cx="10634472" cy="1613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98164"/>
            <a:ext cx="109728" cy="16139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707892"/>
            <a:ext cx="2834640" cy="1394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3598164"/>
            <a:ext cx="5212080" cy="161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Max  Z = 2·X1 + 3·X2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689604"/>
            <a:ext cx="2057400" cy="1431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total profit ($)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394960"/>
            <a:ext cx="10634472" cy="713232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394960"/>
            <a:ext cx="100584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504688"/>
            <a:ext cx="100858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IT AS  </a:t>
            </a:r>
            <a:r>
              <a:rPr sz="1200" b="0">
                <a:solidFill>
                  <a:srgbClr val="161B26"/>
                </a:solidFill>
                <a:latin typeface="Arial"/>
              </a:rPr>
              <a:t>each vanilla earns $2, each chocolate $3 — maximise the weighted sum.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· EACH RESOURCE BECOMES A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Formulating the Model — The Four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923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283464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BAKING POWDER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5212080" cy="9235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0.1·X1 + 0.2·X2 ≤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057400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kg available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07792"/>
            <a:ext cx="10634472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07792"/>
            <a:ext cx="109728" cy="923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017520"/>
            <a:ext cx="283464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MAN-HOURS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907792"/>
            <a:ext cx="5212080" cy="9235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0.05·X1 + 0.1·X2 ≤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999232"/>
            <a:ext cx="2057400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hours available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32504"/>
            <a:ext cx="10634472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32504"/>
            <a:ext cx="109728" cy="923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142232"/>
            <a:ext cx="283464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DEMAND CAPS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032504"/>
            <a:ext cx="5212080" cy="9235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X1 ≤ 25,   X2 ≤ 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123944"/>
            <a:ext cx="2057400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units sellable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57216"/>
            <a:ext cx="10634472" cy="923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57216"/>
            <a:ext cx="109728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5266944"/>
            <a:ext cx="2834640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NON-NEGATIVITY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5157216"/>
            <a:ext cx="5212080" cy="9235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X1, X2 ≥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5248656"/>
            <a:ext cx="2057400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 negative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READY TO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Complete LP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1008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MAXIMISE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Z = 2·X1 + 3·X2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93136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93136"/>
            <a:ext cx="109728" cy="1008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102864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SUBJECT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993136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0.1·X1 + 0.2·X2 ≤ 10   and   0.05·X1 + 0.1·X2 ≤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84576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03192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03192"/>
            <a:ext cx="109728" cy="1008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312920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203192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X1 ≤ 25,  X2 ≤ 60,  X1,X2 ≥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294632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demand &amp; 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94960"/>
            <a:ext cx="10634472" cy="713232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394960"/>
            <a:ext cx="100584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04688"/>
            <a:ext cx="100858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IT AS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is exactly what you enter on the worksheet — coefficients, SUMPRODUCT and limits.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FORMULATION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Turning Words into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'At most' / 'no more than'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'&lt;=' constraint — a resource ceiling.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'At least' / 'minimum'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'&gt;=' constraint — a requirement to meet.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'Exactly' / 'must equal'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'=' constraint — a fixed target.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'Cannot be negative'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X &gt;= 0 — non-negativity.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INTUITION BEHIND THE OPTIMUM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 Efficiency — Read Before You Solve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Profit per kg of the binding resource (baking powder) tells you which product to favour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profit per kg baking powder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Vanilla:   $2 / 0.1kg = $20/kg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Chocolate: $3 / 0.2kg = $15/kg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vanilla is more powder-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efficient, so max it first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X1 = 25   (demand cap)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then fill powder with X2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X2 = (10-2.5)/0.2 = 37.5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Efficiency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Profit divided by resource used per unit.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Vanilla wins on powder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$20/kg beats $15/kg — favour vanilla.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But demand caps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Only 25 vanilla sell; chocolate fills the rest.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Matches Solver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intuition gives Solver's exact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THE OPTIMUM IS A CORNER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Every Corner of the Feasible Region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Profit is evaluated only at the corners of the feasible region. The corner (25, 37.5) gives the maximum, $162.50 — the corner-point theorem in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THE GRAPHICAL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Iso-Profit Lines &amp; the Optimal Corner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Iso-profit 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 (X1,X2) giving equal profit form a line: 2X1+3X2 = constant.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Slide it outward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Higher profit moves the line away from the origin.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Last touch wins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optimum is the last corner the line touches inside the feasible region.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Always a vertex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That last-touch point is a corner — never the interior.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Formulate a Linear Programming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A1, A3, K1 — develop an allocation strategy by translating a resource problem into an LP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Turn Lucy's Cupcakes resource problem into a Linear Programming model: name the decision variables, write the profit objective, and express every resource limit as a linear constraint.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complete LP model (objective + four constraints) laid out on a formula-driven Excel worksheet, ready to solve.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 Excel, lab CSV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worksheet shows a single objective cell (E6) and four constraint LHS cells (E9:E12), each a SUMPRODUCT of coefficients and the changing cells. With X1=X2=0 the objective reads 0 and every constraint LHS reads 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HOW IT RUNS (NO CLICKS — SEE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Formulate a Linear Programming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List products, profit per…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variables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Define X1, X2 — the units of…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the objective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Max Z = 2·X1 + 3·X2 (total…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constraints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One linear inequality per…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Lay out the sheet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Coefficients, SUMPRODUCT for…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63440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63440"/>
            <a:ext cx="100584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73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657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A1, A3, K1 — develop an allocation strategy by translating a resource problem into an LP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FORMULATION LAID OUT (MODEL, NOT CLICKS)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Evidence — The Model on the Worksheet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190341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Row / 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7581" y="1828800"/>
            <a:ext cx="1595170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40733" y="18288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Vanilla X1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2751" y="1828800"/>
            <a:ext cx="1595170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5903" y="18288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Chocolate X2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7921" y="1828800"/>
            <a:ext cx="233958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1073" y="18288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Used (LHS)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97504" y="1828800"/>
            <a:ext cx="638068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0656" y="1828800"/>
            <a:ext cx="4917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0135572" y="1828800"/>
            <a:ext cx="1276136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08724" y="1828800"/>
            <a:ext cx="11298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Limit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286000"/>
            <a:ext cx="319034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2860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Units to bake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7581" y="2286000"/>
            <a:ext cx="159517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0733" y="22860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62751" y="2286000"/>
            <a:ext cx="159517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35903" y="22860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57921" y="2286000"/>
            <a:ext cx="233958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1073" y="22860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← changing cells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97504" y="2286000"/>
            <a:ext cx="6380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0656" y="2286000"/>
            <a:ext cx="4917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10135572" y="2286000"/>
            <a:ext cx="12761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08724" y="2286000"/>
            <a:ext cx="11298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2743200"/>
            <a:ext cx="319034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27432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Profit / unit ($)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7581" y="27432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40733" y="27432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62751" y="27432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5903" y="27432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7921" y="2743200"/>
            <a:ext cx="2339583" cy="457200"/>
          </a:xfrm>
          <a:prstGeom prst="rect">
            <a:avLst/>
          </a:prstGeom>
          <a:solidFill>
            <a:srgbClr val="FFE4C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1073" y="27432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Z =SUMPRODUCT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97504" y="2743200"/>
            <a:ext cx="638068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70656" y="2743200"/>
            <a:ext cx="4917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35572" y="2743200"/>
            <a:ext cx="1276136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08724" y="2743200"/>
            <a:ext cx="11298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3200400"/>
            <a:ext cx="319034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32004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Baking powder (kg)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67581" y="3200400"/>
            <a:ext cx="159517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40733" y="32004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62751" y="3200400"/>
            <a:ext cx="159517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5903" y="32004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57921" y="3200400"/>
            <a:ext cx="2339583" cy="457200"/>
          </a:xfrm>
          <a:prstGeom prst="rect">
            <a:avLst/>
          </a:prstGeom>
          <a:solidFill>
            <a:srgbClr val="E3F6E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31073" y="32004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=SUMPRODUCT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97504" y="3200400"/>
            <a:ext cx="6380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70656" y="3200400"/>
            <a:ext cx="4917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≤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35572" y="3200400"/>
            <a:ext cx="12761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08724" y="3200400"/>
            <a:ext cx="11298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3657600"/>
            <a:ext cx="319034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" y="36576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Man-hours (hr)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67581" y="36576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40733" y="36576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62751" y="36576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35903" y="36576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57921" y="3657600"/>
            <a:ext cx="2339583" cy="457200"/>
          </a:xfrm>
          <a:prstGeom prst="rect">
            <a:avLst/>
          </a:prstGeom>
          <a:solidFill>
            <a:srgbClr val="E3F6E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31073" y="36576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=SUMPRODUCT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97504" y="3657600"/>
            <a:ext cx="638068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70656" y="3657600"/>
            <a:ext cx="4917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35572" y="3657600"/>
            <a:ext cx="1276136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08724" y="3657600"/>
            <a:ext cx="11298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4114800"/>
            <a:ext cx="319034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2" y="41148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Vanilla demand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67581" y="4114800"/>
            <a:ext cx="159517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40733" y="41148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62751" y="4114800"/>
            <a:ext cx="159517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35903" y="41148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57921" y="4114800"/>
            <a:ext cx="2339583" cy="457200"/>
          </a:xfrm>
          <a:prstGeom prst="rect">
            <a:avLst/>
          </a:prstGeom>
          <a:solidFill>
            <a:srgbClr val="E3F6E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31073" y="41148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=SUMPRODUCT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97504" y="4114800"/>
            <a:ext cx="6380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70656" y="4114800"/>
            <a:ext cx="4917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≤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35572" y="4114800"/>
            <a:ext cx="12761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08724" y="4114800"/>
            <a:ext cx="11298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7240" y="4572000"/>
            <a:ext cx="319034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" y="45720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Chocolate demand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67581" y="45720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40733" y="45720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62751" y="45720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35903" y="45720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57921" y="4572000"/>
            <a:ext cx="2339583" cy="457200"/>
          </a:xfrm>
          <a:prstGeom prst="rect">
            <a:avLst/>
          </a:prstGeom>
          <a:solidFill>
            <a:srgbClr val="E3F6E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31073" y="45720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=SUMPRODUCT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97504" y="4572000"/>
            <a:ext cx="638068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570656" y="4572000"/>
            <a:ext cx="4917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≤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35572" y="4572000"/>
            <a:ext cx="1276136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08724" y="4572000"/>
            <a:ext cx="11298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60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240" y="5175504"/>
            <a:ext cx="256032" cy="256032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06424" y="51572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Changing cells X1,X2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38728" y="5175504"/>
            <a:ext cx="256032" cy="256032"/>
          </a:xfrm>
          <a:prstGeom prst="rect">
            <a:avLst/>
          </a:prstGeom>
          <a:solidFill>
            <a:srgbClr val="FFE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67912" y="51572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Objective Z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30368" y="5175504"/>
            <a:ext cx="256032" cy="256032"/>
          </a:xfrm>
          <a:prstGeom prst="rect">
            <a:avLst/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59552" y="51572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Constraint LHS =SUMPRODUCT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7240" y="5559552"/>
            <a:ext cx="10634472" cy="603504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7240" y="5559552"/>
            <a:ext cx="100584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51560" y="5559552"/>
            <a:ext cx="100858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EVIDENCE  </a:t>
            </a:r>
            <a:r>
              <a:rPr sz="1200" b="0">
                <a:solidFill>
                  <a:srgbClr val="161B26"/>
                </a:solidFill>
                <a:latin typeface="Arial"/>
              </a:rPr>
              <a:t>The objective and every constraint are SUMPRODUCT formulas of the changing cells — so Solver can vary X1, X2 and recompute instantly.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 &amp;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Formulate a Linear Programming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worksheet shows a single objective cell (E6) and four constraint LHS cells (E9:E12), each a SUMPRODUCT of coefficients and the changing cells. With X1=X2=0 the objective reads 0 and every constraint LHS reads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 — DIAGNOSE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Objective is a fixed number, not a formula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You typed the profit instead of =SUMPRODUCT(...). Solver can only optimise a cell that depends on the changing cells.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Constraint uses absolute vs relative refs wrongly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Lock the changing cells with $C$4:$D$4 so the formula copies down correctly.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resource limit is on the wrong 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limit (RHS) is a constant in column G; the used amount (LHS) is the SUMPRODUCT in column E. Do not swap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ENGINE (CONCEPT — STEPS ARE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the Excel Solver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Reads your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objective cell, the changing cells and the constraint cells you defined.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Searches corners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Simplex LP engine moves corner-to-corner, improving the objective each step.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Stops at the optimum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When no adjacent corner is better, it reports the optimal solution.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Explains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Answer and Sensitivity reports show binding constraints, slack and shadow prices.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MAPPING THE MODEL ONTO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Solver Model — Which Cell Plays Which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828409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368210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Solver setting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605649" y="1828800"/>
            <a:ext cx="255227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8801" y="18288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Cell(s)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7922" y="1828800"/>
            <a:ext cx="4253788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1074" y="1828800"/>
            <a:ext cx="41074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382840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286000"/>
            <a:ext cx="368210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Set Objective → Max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05649" y="2286000"/>
            <a:ext cx="2552273" cy="457200"/>
          </a:xfrm>
          <a:prstGeom prst="rect">
            <a:avLst/>
          </a:prstGeom>
          <a:solidFill>
            <a:srgbClr val="FFE4C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8801" y="22860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E6 (Z)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7922" y="2286000"/>
            <a:ext cx="42537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1074" y="2286000"/>
            <a:ext cx="41074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Total profit =SUMPRODUCT(profit, units)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3200"/>
            <a:ext cx="3828409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743200"/>
            <a:ext cx="368210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By Changing Cells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5649" y="2743200"/>
            <a:ext cx="2552273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8801" y="27432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C4:D4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7922" y="2743200"/>
            <a:ext cx="4253788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1074" y="2743200"/>
            <a:ext cx="41074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161B26"/>
                </a:solidFill>
                <a:latin typeface="Arial"/>
              </a:rPr>
              <a:t>The units X1, X2 Solver may vary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00400"/>
            <a:ext cx="382840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200400"/>
            <a:ext cx="368210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Subject to Constraints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05649" y="3200400"/>
            <a:ext cx="255227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8801" y="32004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E9:E12 ≤ G9:G12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7922" y="3200400"/>
            <a:ext cx="42537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1074" y="3200400"/>
            <a:ext cx="41074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Resource &amp; demand limits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57600"/>
            <a:ext cx="3828409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3657600"/>
            <a:ext cx="368210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Make Variables ≥ 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05649" y="3657600"/>
            <a:ext cx="255227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8801" y="36576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C4:D4 ≥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57922" y="3657600"/>
            <a:ext cx="4253788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31074" y="3657600"/>
            <a:ext cx="41074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Non-negativity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14800"/>
            <a:ext cx="382840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4114800"/>
            <a:ext cx="368210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Solving Method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05649" y="4114800"/>
            <a:ext cx="255227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78801" y="41148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Simplex LP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57922" y="4114800"/>
            <a:ext cx="425378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31074" y="4114800"/>
            <a:ext cx="41074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The model is linear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718304"/>
            <a:ext cx="256032" cy="256032"/>
          </a:xfrm>
          <a:prstGeom prst="rect">
            <a:avLst/>
          </a:prstGeom>
          <a:solidFill>
            <a:srgbClr val="FFE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6424" y="47000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Objective cell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25496" y="4718304"/>
            <a:ext cx="256032" cy="256032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54680" y="47000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Changing cells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102352"/>
            <a:ext cx="10634472" cy="603504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102352"/>
            <a:ext cx="100584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102352"/>
            <a:ext cx="100858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EVIDENCE  </a:t>
            </a:r>
            <a:r>
              <a:rPr sz="1200" b="0">
                <a:solidFill>
                  <a:srgbClr val="161B26"/>
                </a:solidFill>
                <a:latin typeface="Arial"/>
              </a:rPr>
              <a:t>Solver needs four things: an objective cell to optimise, changing cells to vary, constraint cells to respect, and the Simplex LP engine.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HOW THE OPTIMUM IS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Simplex moves corner to corner.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From a starting vertex, the Simplex LP engine steps to the adjacent corner that most improves profit — repeating until no better corner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Solve for Maximum Profit with Excel Solver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A2, K1 — develop an allocation plan that maximises profit using the Excel 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Run the Simplex LP engine in Excel Solver on the Lucy's Cupcakes model to find the profit-maximising production plan and produce the Answer Report.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optimal plan X1=25, X2=37.5 giving Z=$162.50, plus a Solver Answer Report showing binding and non-binding constraints.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 Excel, Solver add-in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changing cells read X1=25 and X2=37.5, the objective E6 reads 162.5, and the Answer Report lists baking powder and vanilla-demand as Binding (slack 0) while man-hours and chocolate-demand are Not Binding (slack 5 and 22.5).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HOW IT RUNS (NO CLICKS — SEE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Solve for Maximum Profit with Excel Solver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the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Point Solver at the profit…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changing cells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units C4:D4 are what…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Add constraints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E9:E12 ≤ G9:G12, and…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Pick the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Simplex LP — the model is…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Solve &amp;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Keep the solution and…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63440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63440"/>
            <a:ext cx="100584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73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657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A2, K1 — develop an allocation plan that maximises profit using the Excel Solver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OPTIMAL PLAN X1=25, X2=37.5, Z=$162.50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Evidence — The Solved Worksheet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190341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Row / 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7581" y="1828800"/>
            <a:ext cx="1595170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40733" y="18288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Vanilla X1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2751" y="1828800"/>
            <a:ext cx="1595170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5903" y="18288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Chocolate X2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7921" y="1828800"/>
            <a:ext cx="2126894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1073" y="1828800"/>
            <a:ext cx="198059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Used (LHS)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4815" y="1828800"/>
            <a:ext cx="53172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7967" y="1828800"/>
            <a:ext cx="3854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9816538" y="1828800"/>
            <a:ext cx="1595170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89690" y="18288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Limit /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286000"/>
            <a:ext cx="319034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2860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Units to bake (optimal)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7581" y="2286000"/>
            <a:ext cx="1595170" cy="457200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0733" y="22860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62751" y="2286000"/>
            <a:ext cx="1595170" cy="457200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35903" y="22860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37.5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57921" y="2286000"/>
            <a:ext cx="21268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1073" y="2286000"/>
            <a:ext cx="198059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← Solver result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4815" y="2286000"/>
            <a:ext cx="53172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7967" y="2286000"/>
            <a:ext cx="3854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9816538" y="2286000"/>
            <a:ext cx="159517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89690" y="22860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2743200"/>
            <a:ext cx="319034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27432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Profit / unit ($)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7581" y="27432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40733" y="27432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62751" y="27432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5903" y="27432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7921" y="2743200"/>
            <a:ext cx="2126894" cy="457200"/>
          </a:xfrm>
          <a:prstGeom prst="rect">
            <a:avLst/>
          </a:prstGeom>
          <a:solidFill>
            <a:srgbClr val="FFE4C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1073" y="2743200"/>
            <a:ext cx="198059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Z = 162.50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4815" y="2743200"/>
            <a:ext cx="53172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57967" y="2743200"/>
            <a:ext cx="3854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16538" y="27432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89690" y="27432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MAX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3200400"/>
            <a:ext cx="319034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32004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Baking powder (kg)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67581" y="3200400"/>
            <a:ext cx="159517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40733" y="32004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62751" y="3200400"/>
            <a:ext cx="159517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5903" y="32004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57921" y="3200400"/>
            <a:ext cx="21268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31073" y="3200400"/>
            <a:ext cx="198059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10.0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4815" y="3200400"/>
            <a:ext cx="53172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57967" y="3200400"/>
            <a:ext cx="3854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≤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16538" y="3200400"/>
            <a:ext cx="1595170" cy="457200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89690" y="32004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10  binding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3657600"/>
            <a:ext cx="319034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" y="36576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Man-hours (hr)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67581" y="36576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40733" y="36576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62751" y="36576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35903" y="36576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57921" y="3657600"/>
            <a:ext cx="212689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31073" y="3657600"/>
            <a:ext cx="198059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5.0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84815" y="3657600"/>
            <a:ext cx="53172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57967" y="3657600"/>
            <a:ext cx="3854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16538" y="36576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89690" y="36576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10  slack 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4114800"/>
            <a:ext cx="319034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2" y="41148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Vanilla demand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67581" y="4114800"/>
            <a:ext cx="159517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40733" y="41148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62751" y="4114800"/>
            <a:ext cx="159517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35903" y="41148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57921" y="4114800"/>
            <a:ext cx="21268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31073" y="4114800"/>
            <a:ext cx="198059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84815" y="4114800"/>
            <a:ext cx="53172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57967" y="4114800"/>
            <a:ext cx="3854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≤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16538" y="4114800"/>
            <a:ext cx="1595170" cy="457200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89690" y="41148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25  binding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7240" y="4572000"/>
            <a:ext cx="319034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" y="45720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Chocolate demand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67581" y="45720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40733" y="45720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62751" y="45720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35903" y="45720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57921" y="4572000"/>
            <a:ext cx="212689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31073" y="4572000"/>
            <a:ext cx="198059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37.5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84815" y="4572000"/>
            <a:ext cx="53172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57967" y="4572000"/>
            <a:ext cx="3854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≤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16538" y="4572000"/>
            <a:ext cx="159517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889690" y="4572000"/>
            <a:ext cx="144886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60  slack 22.5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240" y="5175504"/>
            <a:ext cx="256032" cy="256032"/>
          </a:xfrm>
          <a:prstGeom prst="rect">
            <a:avLst/>
          </a:prstGeom>
          <a:solidFill>
            <a:srgbClr val="FFE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06424" y="51572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Max profit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50008" y="5175504"/>
            <a:ext cx="256032" cy="256032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79192" y="51572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Binding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7240" y="5559552"/>
            <a:ext cx="10634472" cy="603504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77240" y="5559552"/>
            <a:ext cx="100584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51560" y="5559552"/>
            <a:ext cx="100858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EVIDENCE  </a:t>
            </a:r>
            <a:r>
              <a:rPr sz="1200" b="0">
                <a:solidFill>
                  <a:srgbClr val="161B26"/>
                </a:solidFill>
                <a:latin typeface="Arial"/>
              </a:rPr>
              <a:t>Baking powder and vanilla demand are fully used (binding); man-hours and chocolate demand have spare capacity (slack).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THE ANSWER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the Answer Report — Binding vs Non-Binding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254550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Constraint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193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Final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510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827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Slack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25856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Baking powder (kg)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193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10.0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510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Binding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827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9864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89864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Man-hours (hr)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193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5.0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510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Not Binding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827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3872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353872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Vanilla demand (units)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193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510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Binding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9827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17880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" y="417880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Chocolate demand (units)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17880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1930" y="417880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37.5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17880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5100" y="417880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Not Binding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17880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98270" y="417880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22.5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001768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001768"/>
            <a:ext cx="10058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111496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WHY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binding constraint has zero slack and limits profit — it earns a shadow price. Non-binding constraints have spare capacity and add no value.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CANDIDATE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Evidence — Why the Mix Beats a Single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Making only one product wastes a resource. The optimal mix earns $162.50 — more than either pure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 &amp;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Solve for Maximum Profit with Excel Solver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changing cells read X1=25 and X2=37.5, the objective E6 reads 162.5, and the Answer Report lists baking powder and vanilla-demand as Binding (slack 0) while man-hours and chocolate-demand are Not Binding (slack 5 and 22.5).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 — DIAGNOSE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Solver is not on the Data tab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add-in is not loaded — repeat the Add-ins step and tick 'Solver Add-in'.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'Solver could not find a feasible solution'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constraint is impossible or a sign is reversed. Check every LHS ≤ RHS and that the RHS limits are positive.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'The Objective Cell values do not converge' (unbounded)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binding resource constraint is missing, so profit can grow without limit. Add the omitted constraint.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THE ANSWER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the Answer Report Line by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Solver Answer Report has three blocks: the objective, the variable cells, and the constraints.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OBJECTIVE CELL (Max)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  Z:  0  -&gt;  162.5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VARIABLE CELLS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  X1: 0 -&gt; 25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  X2: 0 -&gt; 37.5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CONSTRAINTS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  Powder 10  Binding  slack 0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  Hours   5  NotBind  slack 5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  DemX1  25  Binding  slack 0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  DemX2 37.5 NotBind  slack 22.5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Objective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Original vs final Z — profit rose from 0 to 162.5.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Variable 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optimal X1, X2 Solver chose.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Constraint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Binding = fully used (slack 0); Not Binding = spare.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Where to 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Binding constraints are the bottlenecks worth relaxing.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FROM SLACK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Interpreting Slack in Business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Slack = spare capacity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Man-hours slack 5 means 5 hours sit idle at the optimum.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Zero slack = bottleneck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Baking powder slack 0 means it is fully consumed and caps profit.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buy slack resources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Extra man-hours add nothing while 5 hr are idle.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Target the bottleneck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More baking powder is what unlocks more profit.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WHY WE USE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Excel Solver vs Solving by Hand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254550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Aspect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1930" y="1783080"/>
            <a:ext cx="371529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By hand (graphical / simplex)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6685" y="1783080"/>
            <a:ext cx="371529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Excel Solver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5856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Variables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1930" y="225856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2-3 before it gets hard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6685" y="225856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Hundreds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9864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289864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Effort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98648"/>
            <a:ext cx="3934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1930" y="289864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Manual algebra, error-prone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98648"/>
            <a:ext cx="3934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6685" y="289864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Automatic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3872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53872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38728"/>
            <a:ext cx="3934755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1930" y="353872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derive them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38728"/>
            <a:ext cx="3934755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6685" y="353872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Answer + Sensitivity built 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17880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17880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178808"/>
            <a:ext cx="3934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1930" y="417880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Understanding the method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178808"/>
            <a:ext cx="3934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6685" y="417880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Real problems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001768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001768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111496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WHY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learn the mechanism by hand on small models; use Solver for anything real.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DUAL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Shadow Prices — The Value of a Resource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1008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SHADOW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Δ optimal profit per +1 unit of a resource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marginal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93136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93136"/>
            <a:ext cx="109728" cy="1008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102864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BINDING → 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993136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 fully-used resource has a shadow price &gt;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84576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worth buying more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03192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03192"/>
            <a:ext cx="109728" cy="1008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312920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SLACK → 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203192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 resource with spare capacity is worth 0 more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294632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don't buy more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94960"/>
            <a:ext cx="10634472" cy="713232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394960"/>
            <a:ext cx="100584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04688"/>
            <a:ext cx="100858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IT AS  </a:t>
            </a:r>
            <a:r>
              <a:rPr sz="1200" b="0">
                <a:solidFill>
                  <a:srgbClr val="161B26"/>
                </a:solidFill>
                <a:latin typeface="Arial"/>
              </a:rPr>
              <a:t>baking powder is binding, so one more kg is worth $15 of profit; man-hours have slack, so worth $0.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ROBUSTNESS OF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Sensitivity — How Far Can the Data Move?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Objective ranges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much a profit coefficient can change before the optimal plan (the basis) 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RHS ranges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much a resource limit can change while its shadow price stays valid.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Reduced cost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much an unused product's profit must rise before it enters the plan.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it matters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Prices and supplies move — sensitivity tells you when to re-plan and when not to.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Sensitivity and Scenario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A2, A3, A6 — review sufficiency and optimal utilisation using the Sensitivity Report and what-if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Read the Solver Sensitivity Report to value each resource (shadow prices) and find the ranges over which the plan holds, then run what-if scenarios that change a resource limit or a profit rate.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Sensitivity Report with shadow prices and allowable ranges, plus a small scenario table comparing profit as baking powder and profit rates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 Excel, Solver add-in, Scenario Manager / Data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Sensitivity Report shows baking powder with a positive shadow price and man-hours with a $0 shadow price; increasing baking powder within its allowable increase raises profit by about $15 per kg, and the scenario table shows profit rising as the baking-powder limit increases.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HOW IT RUNS (NO CLICKS — SEE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Sensitivity and Scenario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Re-solve with the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Generate the Sensitivity…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Value the 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Shadow price = extra profit…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the ranges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Allowable increase/decrease…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scenarios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Change baking powder or a…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Recommend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Buy more of the resource with…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63440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63440"/>
            <a:ext cx="100584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73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657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A2, A3, A6 — review sufficiency and optimal utilisation using the Sensitivity Report and what-if scenarios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SHADOW PRICES &amp; RANGES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Evidence — The Sensitivity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254550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Resource / limit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193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Shadow price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510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Binding?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827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25856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Baking powder (kg)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193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$15.00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510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827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+1 kg → +$15 profit (within range)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9864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89864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Man-hours (hr)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193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$0.00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510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827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5 hr spare — more adds nothing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3872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353872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Vanilla demand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193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$0.50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510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9827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+1 unit cap → +$0.50 profit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17880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" y="417880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Chocolate demand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17880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1930" y="417880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$0.00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17880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5100" y="417880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17880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98270" y="417880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22.5 spare — not the bottleneck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001768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001768"/>
            <a:ext cx="10058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111496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WHY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spend on the binding resource with the highest shadow price (baking powder), but only within its allowable increase — beyond that, re-solve.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WHAT-IF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Evidence — Scenario: Profit vs Baking Powder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extra kg adds exactly $15 — the shadow price — up to ~14.5 kg, where chocolate demand becomes the new bottleneck and the slope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 &amp;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Sensitivity and Scenario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Sensitivity Report shows baking powder with a positive shadow price and man-hours with a $0 shadow price; increasing baking powder within its allowable increase raises profit by about $15 per kg, and the scenario table shows profit rising as the baking-powder limit increases.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 — DIAGNOSE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 Sensitivity Report is produced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You must select Simplex LP; the GRG Nonlinear engine gives a different report. Re-solve with Simplex LP.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All shadow prices are 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 constraint is binding — the solution is interior or the model is under-constrained. Re-check the resource limits.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Shadow price used outside its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shadow price is only valid within the allowable increase/decrease. Beyond it, re-solve rather than extrapolate.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TURNING SENSITIVITY INTO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Shadow Price in Action — Should Lucy Buy More Powder?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shadow price of baking powder is $15/kg. Compare it to the price of buying more.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baking powder shadow price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= $15 per extra kg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supplier sells powder at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= $6 per kg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net gain per extra kg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= 15 - 6 = $9   (buy!)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valid to about +4.5 kg,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then demand binds -&gt; re-solve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Shadow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Each extra kg is worth $15 of profit while binding.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Compare to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At $6/kg, buying adds $9/kg net profit.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Respect the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Valid only within the allowable increase (~4.5 kg).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Then re-solve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Beyond the range a different constraint binds.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1 · FAILURE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Diagnosing a Solver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Did Solver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return a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finite optimum?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— read the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the plan, then read the Answer &amp; Sensitivity reports for binding constraints and shadow prices.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— diagnose the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Infeasible, unbounded or degenerate — each has a distinct cause and fix (next slide).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healthy LP returns one finite optimum. Anything else is a modelling signal, not a dead end.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TOPIC 1 · READ THE SYMPTOM, APPLY 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LP Failure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11096"/>
            <a:ext cx="47228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⚠  Infeasible — no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86584"/>
            <a:ext cx="472287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7A3E"/>
                </a:solidFill>
                <a:latin typeface="Arial"/>
              </a:rPr>
              <a:t>Fix:  </a:t>
            </a:r>
            <a:r>
              <a:rPr sz="1100" b="0">
                <a:solidFill>
                  <a:srgbClr val="5B6372"/>
                </a:solidFill>
                <a:latin typeface="Arial"/>
              </a:rPr>
              <a:t>Constraints contradict (e.g. demand &gt; capacity). Relax or correct the conflicting limit.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1911096"/>
            <a:ext cx="47228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⚠  Unbounded — profit → 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386584"/>
            <a:ext cx="472287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7A3E"/>
                </a:solidFill>
                <a:latin typeface="Arial"/>
              </a:rPr>
              <a:t>Fix:  </a:t>
            </a:r>
            <a:r>
              <a:rPr sz="1100" b="0">
                <a:solidFill>
                  <a:srgbClr val="5B6372"/>
                </a:solidFill>
                <a:latin typeface="Arial"/>
              </a:rPr>
              <a:t>A binding resource constraint is missing. Add the omitted capacity limit.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24528"/>
            <a:ext cx="47228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⚠  Multiple optima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00016"/>
            <a:ext cx="472287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7A3E"/>
                </a:solidFill>
                <a:latin typeface="Arial"/>
              </a:rPr>
              <a:t>Fix:  </a:t>
            </a:r>
            <a:r>
              <a:rPr sz="1100" b="0">
                <a:solidFill>
                  <a:srgbClr val="5B6372"/>
                </a:solidFill>
                <a:latin typeface="Arial"/>
              </a:rPr>
              <a:t>A non-basic reduced cost is zero — a whole edge is optimal. Any of the tied plans is valid.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224528"/>
            <a:ext cx="47228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⚠  Degenerate / cycling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00016"/>
            <a:ext cx="472287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7A3E"/>
                </a:solidFill>
                <a:latin typeface="Arial"/>
              </a:rPr>
              <a:t>Fix:  </a:t>
            </a:r>
            <a:r>
              <a:rPr sz="1100" b="0">
                <a:solidFill>
                  <a:srgbClr val="5B6372"/>
                </a:solidFill>
                <a:latin typeface="Arial"/>
              </a:rPr>
              <a:t>A constraint is redundant (a tie in the ratio test). Remove duplicates or use Simplex anti-cycling.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WHEN 37.5 ISN'T ALLOWED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Divisibility — Continuous vs Integer LP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Continuous LP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Fractions allowed: 37.5 batches is fine when output is divisible.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Integer LP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Whole units only — people, vehicles and machines cannot be fractional.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Add integer 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 Solver, add X = integer; it switches to branch-and-bound.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Cost of integers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Integer models solve slower and can lose a little profit vs the LP relaxation.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TOPIC 01 · GET THE MODEL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 LP Formulation Mistakes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11096"/>
            <a:ext cx="47228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⚠  Objective typed as a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86584"/>
            <a:ext cx="472287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7A3E"/>
                </a:solidFill>
                <a:latin typeface="Arial"/>
              </a:rPr>
              <a:t>Fix:  </a:t>
            </a:r>
            <a:r>
              <a:rPr sz="1100" b="0">
                <a:solidFill>
                  <a:srgbClr val="5B6372"/>
                </a:solidFill>
                <a:latin typeface="Arial"/>
              </a:rPr>
              <a:t>Make it =SUMPRODUCT so it depends on the changing cells.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1911096"/>
            <a:ext cx="47228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⚠  Constraint direction reversed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386584"/>
            <a:ext cx="472287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7A3E"/>
                </a:solidFill>
                <a:latin typeface="Arial"/>
              </a:rPr>
              <a:t>Fix:  </a:t>
            </a:r>
            <a:r>
              <a:rPr sz="1100" b="0">
                <a:solidFill>
                  <a:srgbClr val="5B6372"/>
                </a:solidFill>
                <a:latin typeface="Arial"/>
              </a:rPr>
              <a:t>Resource and demand caps are LHS &lt;= RHS, not &gt;=.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24528"/>
            <a:ext cx="47228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⚠  Mixed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00016"/>
            <a:ext cx="472287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7A3E"/>
                </a:solidFill>
                <a:latin typeface="Arial"/>
              </a:rPr>
              <a:t>Fix:  </a:t>
            </a:r>
            <a:r>
              <a:rPr sz="1100" b="0">
                <a:solidFill>
                  <a:srgbClr val="5B6372"/>
                </a:solidFill>
                <a:latin typeface="Arial"/>
              </a:rPr>
              <a:t>Keep kg with kg and hours with hours; convert before you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224528"/>
            <a:ext cx="47228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⚠  Forgot non-negativity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00016"/>
            <a:ext cx="472287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7A3E"/>
                </a:solidFill>
                <a:latin typeface="Arial"/>
              </a:rPr>
              <a:t>Fix:  </a:t>
            </a:r>
            <a:r>
              <a:rPr sz="1100" b="0">
                <a:solidFill>
                  <a:srgbClr val="5B6372"/>
                </a:solidFill>
                <a:latin typeface="Arial"/>
              </a:rPr>
              <a:t>Tick 'Make Unconstrained Variables Non-Negative' or add X &gt;= 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1 ·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Optimisation &amp; Linear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 LP model = decision variables + a linear objective + linear constraints, with X ≥ 0.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Excel Solver (Simplex LP) finds the profit-maximising corner: Lucy's optimum is X1=25, X2=37.5, Z=$162.50.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Binding constraints (baking powder, vanilla demand) limit profit and earn shadow prices; slack means spare capacity.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Sensitivity and scenario analysis show how far data can move and which resource to buy first.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Infeasible, unbounded, multiple-optima and degenerate results each have a recognisable cause and fix.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Decision Analysis for Resource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297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Decision trees · Expected Value (EV, EVwPI, EVPI) · risk and Expected Utility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5 hrs · K2, A4, A5,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Decision Analysis for Resource Usage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Decisions under uncertainty need structure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decision problem is a set of decisions, uncertain states of nature with probabilities, and a payoff for every combination.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 trees make the structure visible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Square decision nodes branch into your choices; round chance nodes branch into states — you fold back to the best expected payoff.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25368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25368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71246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35096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Expected Value ranks the alternatives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 = Σ probability × payoff. The decision with the highest expected payoff is the EV-optimal choice.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25368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25368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71246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35096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Perfect information has a price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EVPI = EVwPI − EV is the most you should ever pay to remove the uncertainty before deciding.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67656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67656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5475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77384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Expected Utility captures risk attitude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When outcomes are large or risky, replacing money with utility separates a risk-averse choice from a risk-neutral one.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FOUR INGREDIENTS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Decision-Making Under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options you control — e.g. which expansion to build.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States of nature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uncertain future — e.g. a favourable, neutral or unfavourable market.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Probabilities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Your best estimate of each state's likelihood (they sum to 1).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Payoffs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result of every decision-and-state combination.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STRUCTURE FIRST · PAYOFFS IN $'000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 Decision — The Payoff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977652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Decision \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4892" y="1828800"/>
            <a:ext cx="255227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8044" y="18288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Favourable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7165" y="1828800"/>
            <a:ext cx="255227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0317" y="18288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Neutral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59438" y="1828800"/>
            <a:ext cx="255227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2590" y="18288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Unfavourable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86000"/>
            <a:ext cx="29776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2860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Probability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54892" y="2286000"/>
            <a:ext cx="2552273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8044" y="22860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7165" y="2286000"/>
            <a:ext cx="2552273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0317" y="22860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59438" y="2286000"/>
            <a:ext cx="2552273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2590" y="22860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743200"/>
            <a:ext cx="29776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27432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Option 1 — Large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54892" y="2743200"/>
            <a:ext cx="255227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8044" y="27432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7165" y="2743200"/>
            <a:ext cx="255227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0317" y="27432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59438" y="2743200"/>
            <a:ext cx="255227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32590" y="27432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200400"/>
            <a:ext cx="29776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32004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Option 2 — Medium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54892" y="3200400"/>
            <a:ext cx="255227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28044" y="32004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7165" y="3200400"/>
            <a:ext cx="255227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0317" y="32004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59438" y="3200400"/>
            <a:ext cx="255227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32590" y="32004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657600"/>
            <a:ext cx="29776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" y="36576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Option 3 — Small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54892" y="3657600"/>
            <a:ext cx="255227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28044" y="36576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7165" y="3657600"/>
            <a:ext cx="255227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0317" y="36576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59438" y="3657600"/>
            <a:ext cx="255227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32590" y="36576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261104"/>
            <a:ext cx="256032" cy="256032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6424" y="42428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State probabilities (sum to 1)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645152"/>
            <a:ext cx="10634472" cy="603504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4645152"/>
            <a:ext cx="100584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4645152"/>
            <a:ext cx="100858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EVIDENCE  </a:t>
            </a:r>
            <a:r>
              <a:rPr sz="1200" b="0">
                <a:solidFill>
                  <a:srgbClr val="161B26"/>
                </a:solidFill>
                <a:latin typeface="Arial"/>
              </a:rPr>
              <a:t>Rows are the decisions you control; columns are the uncertain states with probabilities. Every cell is a payoff.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SQUARE = DECISION · CIRCLE = CHANCE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Decision Tree — Nodes &amp; Branches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451859"/>
            <a:ext cx="1371600" cy="1005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DECIDE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148840" y="2567939"/>
            <a:ext cx="1874520" cy="1386840"/>
          </a:xfrm>
          <a:prstGeom prst="line">
            <a:avLst/>
          </a:prstGeom>
          <a:ln w="19050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94560" y="2987039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Option 1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2156459"/>
            <a:ext cx="822960" cy="82296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156459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002535"/>
            <a:ext cx="5212080" cy="1130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057399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Fav:0.3→400 Neu:0.5→360 Unf:0.2→100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586227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 = 320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3954779"/>
            <a:ext cx="1874520" cy="0"/>
          </a:xfrm>
          <a:prstGeom prst="line">
            <a:avLst/>
          </a:prstGeom>
          <a:ln w="3175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94560" y="3680459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Option 2</a:t>
            </a:r>
          </a:p>
        </p:txBody>
      </p:sp>
      <p:sp>
        <p:nvSpPr>
          <p:cNvPr id="17" name="Oval 16"/>
          <p:cNvSpPr/>
          <p:nvPr/>
        </p:nvSpPr>
        <p:spPr>
          <a:xfrm>
            <a:off x="4023360" y="3543299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3543299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EV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389375"/>
            <a:ext cx="5212080" cy="1130808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3389375"/>
            <a:ext cx="82296" cy="1130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444239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Fav:0.3→350 Neu:0.5→380 Unf:0.2→250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73067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7A3E"/>
                </a:solidFill>
                <a:latin typeface="Arial"/>
              </a:rPr>
              <a:t>EV = 345   ← choose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48840" y="3954779"/>
            <a:ext cx="1874520" cy="1386840"/>
          </a:xfrm>
          <a:prstGeom prst="line">
            <a:avLst/>
          </a:prstGeom>
          <a:ln w="19050">
            <a:solidFill>
              <a:srgbClr val="5B63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194560" y="4373879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Option 3</a:t>
            </a:r>
          </a:p>
        </p:txBody>
      </p:sp>
      <p:sp>
        <p:nvSpPr>
          <p:cNvPr id="25" name="Oval 24"/>
          <p:cNvSpPr/>
          <p:nvPr/>
        </p:nvSpPr>
        <p:spPr>
          <a:xfrm>
            <a:off x="4023360" y="4930139"/>
            <a:ext cx="822960" cy="82296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4930139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EV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4776215"/>
            <a:ext cx="5212080" cy="11308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4831079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Fav:0.3→300 Neu:0.5→390 Unf:0.2→200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5359907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 = 325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80759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Fold back: at each chance node compute EV = Σ p·payoff; at the decision node pick the branch with the highest EV.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CHOOSE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Criteria — With and Without Probabilities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254550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193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Uses probabilities?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510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Picks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827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Attitude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25856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Maximax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193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510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Best of the best payoffs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827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Optimistic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9864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89864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Maximin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193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510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Best of the worst payoffs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827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Pessimistic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3872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353872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Minimax regret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193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510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Least worst-case regret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9827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Cautious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17880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" y="417880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Expected Value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17880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1930" y="417880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17880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5100" y="417880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Highest Σ p·payoff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17880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98270" y="417880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Risk-neutral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001768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001768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111496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WHY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with reliable probabilities, Expected Value is the standard criterion — it uses all the information in the payoff table.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CORE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613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1613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2834640" cy="1394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EXPECTED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5212080" cy="161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EV = Σ  pᵢ · xᵢ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057400" cy="1431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probability × payoff, summed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98164"/>
            <a:ext cx="10634472" cy="1613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98164"/>
            <a:ext cx="109728" cy="16139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707892"/>
            <a:ext cx="2834640" cy="1394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3598164"/>
            <a:ext cx="5212080" cy="161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Choose the option with the highest 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689604"/>
            <a:ext cx="2057400" cy="1431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EV-optimal choice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394960"/>
            <a:ext cx="10634472" cy="713232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394960"/>
            <a:ext cx="100584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504688"/>
            <a:ext cx="100858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IT AS  </a:t>
            </a:r>
            <a:r>
              <a:rPr sz="1200" b="0">
                <a:solidFill>
                  <a:srgbClr val="161B26"/>
                </a:solidFill>
                <a:latin typeface="Arial"/>
              </a:rPr>
              <a:t>EV is the long-run average payoff if the decision were repeated many times.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IS A FORECAST WORTH?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Valuing Information — EVwPI &amp; EVPI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613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1613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2834640" cy="1394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 WITH PERFECT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5212080" cy="161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EVwPI = Σ pᵢ · (best payoff in state 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057400" cy="1431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if you knew the future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98164"/>
            <a:ext cx="10634472" cy="1613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98164"/>
            <a:ext cx="109728" cy="16139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707892"/>
            <a:ext cx="2834640" cy="1394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 OF PERFECT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3598164"/>
            <a:ext cx="5212080" cy="161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EVPI = EVwPI − best 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689604"/>
            <a:ext cx="2057400" cy="14310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value of knowing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394960"/>
            <a:ext cx="10634472" cy="713232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394960"/>
            <a:ext cx="100584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504688"/>
            <a:ext cx="100858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IT AS  </a:t>
            </a:r>
            <a:r>
              <a:rPr sz="1200" b="0">
                <a:solidFill>
                  <a:srgbClr val="161B26"/>
                </a:solidFill>
                <a:latin typeface="Arial"/>
              </a:rPr>
              <a:t>EVPI is the most you should ever pay for perfect market information before deciding.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TWO VIEWS OF ONE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Tree vs Payoff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Payoff table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compact grid of decisions x states — best for a single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 tree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Shows the sequence and chance nodes — best for staged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Same maths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Both use EV = Sum(p x payoff) and fold-back.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This course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 use the table to compute and the tree to visualise.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SOLVING THE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Folding Back the Decision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Work right to left: compute each option's EV at its chance node, then pick the best at the decision node.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EV = sum(p * payoff)  $'000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Option 1: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.3*400+.5*360+.2*100 = 320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Option 2: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.3*350+.5*380+.2*250 = 345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Option 3: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.3*300+.5*390+.2*200 = 325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decision node: pick max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max(320,345,325)=345 -&gt; Opt2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Chance nodes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 = Sum(p x payoff) at each round node.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Then the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At the square node choose the highest EV.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Option 2 wins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345 beats 320 and 325.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This is fold-back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standard decision-tree solution method.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WITHOUT VS WITH PROBABILITIES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Maximax, Maximin &amp; Expected Value on KAZO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254550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1967377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1930" y="1783080"/>
            <a:ext cx="174792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Option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783080"/>
            <a:ext cx="1967377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9307" y="1783080"/>
            <a:ext cx="174792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Option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783080"/>
            <a:ext cx="1967377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6684" y="1783080"/>
            <a:ext cx="174792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Option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783080"/>
            <a:ext cx="1967377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4061" y="1783080"/>
            <a:ext cx="1747921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Picks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5856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25856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Maximax (best case)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258568"/>
            <a:ext cx="1967377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1930" y="2258568"/>
            <a:ext cx="17479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258568"/>
            <a:ext cx="1967377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19307" y="2258568"/>
            <a:ext cx="17479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258568"/>
            <a:ext cx="1967377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6684" y="2258568"/>
            <a:ext cx="17479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258568"/>
            <a:ext cx="1967377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4061" y="2258568"/>
            <a:ext cx="17479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Option 1 (400)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89864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289864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Maximin (worst case)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898648"/>
            <a:ext cx="196737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1930" y="2898648"/>
            <a:ext cx="17479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898648"/>
            <a:ext cx="196737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19307" y="2898648"/>
            <a:ext cx="17479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898648"/>
            <a:ext cx="196737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6684" y="2898648"/>
            <a:ext cx="17479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898648"/>
            <a:ext cx="196737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4061" y="2898648"/>
            <a:ext cx="17479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Option 2 (250)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53872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353872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Expected Value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538728"/>
            <a:ext cx="1967377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1930" y="3538728"/>
            <a:ext cx="17479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538728"/>
            <a:ext cx="1967377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19307" y="3538728"/>
            <a:ext cx="17479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538728"/>
            <a:ext cx="1967377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6684" y="3538728"/>
            <a:ext cx="17479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538728"/>
            <a:ext cx="1967377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54061" y="3538728"/>
            <a:ext cx="17479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Option 2 (345)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361688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4361688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4471416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WHY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Option 1 looks best only to a pure optimist; the risk-aware maximin and the probability-based EV both favour Option 2.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 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Value, EVwPI and EVPI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A4, A5, K2 — determine resource needs and monitor usage by ranking options on expected payoff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a decision table for KAZO's expansion choice, compute the Expected Value of each option, then find the Expected Value with Perfect Information and the Expected Value of Perfect Information.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formula-driven decision table that ranks three options by EV (best EV=$345k), and computes EVwPI=$365k and EVPI=$20k.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 Excel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EV column shows Option 1 = 320, Option 2 = 345, Option 3 = 325; the best-EV flag points to Option 2; EVwPI reads 365 and EVPI reads 20 (all in $'000).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HOW IT RUNS (NO CLICKS — SEE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Value, EVwPI and EVPI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Structure the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Three options × three market…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Enter the payoffs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payoff for every…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EV per option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EV = Σ probability × payoff…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Pick the best EV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highest EV is the…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Value information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EVwPI takes the best payoff…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63440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63440"/>
            <a:ext cx="100584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73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657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A4, A5, K2 — determine resource needs and monitor usage by ranking options on expected payoff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DECISION TABLE WITH EXPECTED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Evidence — EV, EVwPI and EVPI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190341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7581" y="1828800"/>
            <a:ext cx="1861032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40733" y="18288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Fav (0.3)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28613" y="1828800"/>
            <a:ext cx="1861032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1765" y="18288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Neu (0.5)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9645" y="1828800"/>
            <a:ext cx="1861032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62797" y="18288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Unf (0.2)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0677" y="1828800"/>
            <a:ext cx="1861032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3829" y="18288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EV ($'000)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86000"/>
            <a:ext cx="319034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2860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Option 1 — Large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7581" y="2286000"/>
            <a:ext cx="18610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0733" y="22860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28613" y="2286000"/>
            <a:ext cx="18610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1765" y="22860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9645" y="2286000"/>
            <a:ext cx="18610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62797" y="22860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0677" y="2286000"/>
            <a:ext cx="18610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23829" y="22860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743200"/>
            <a:ext cx="319034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27432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Option 2 — 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67581" y="2743200"/>
            <a:ext cx="186103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40733" y="27432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28613" y="2743200"/>
            <a:ext cx="186103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01765" y="27432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9645" y="2743200"/>
            <a:ext cx="186103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62797" y="27432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0677" y="2743200"/>
            <a:ext cx="1861032" cy="457200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23829" y="27432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345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200400"/>
            <a:ext cx="319034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32004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Option 3 — Small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67581" y="3200400"/>
            <a:ext cx="18610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40733" y="32004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28613" y="3200400"/>
            <a:ext cx="18610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01765" y="32004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390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9645" y="3200400"/>
            <a:ext cx="18610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62797" y="32004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50677" y="3200400"/>
            <a:ext cx="18610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23829" y="32004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3657600"/>
            <a:ext cx="3190341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3657600"/>
            <a:ext cx="304403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Best in each state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7581" y="3657600"/>
            <a:ext cx="1861032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40733" y="36576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28613" y="3657600"/>
            <a:ext cx="1861032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01765" y="36576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390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9645" y="3657600"/>
            <a:ext cx="1861032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62797" y="36576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50677" y="3657600"/>
            <a:ext cx="1861032" cy="457200"/>
          </a:xfrm>
          <a:prstGeom prst="rect">
            <a:avLst/>
          </a:prstGeom>
          <a:solidFill>
            <a:srgbClr val="FFE4C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23829" y="3657600"/>
            <a:ext cx="1714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EVwPI 365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4261104"/>
            <a:ext cx="256032" cy="256032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06424" y="42428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Best EV (choose)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3240" y="4261104"/>
            <a:ext cx="256032" cy="256032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92424" y="42428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Best in state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92624" y="4261104"/>
            <a:ext cx="256032" cy="256032"/>
          </a:xfrm>
          <a:prstGeom prst="rect">
            <a:avLst/>
          </a:prstGeom>
          <a:solidFill>
            <a:srgbClr val="FFE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21808" y="42428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EVwPI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" y="4645152"/>
            <a:ext cx="10634472" cy="603504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7240" y="4645152"/>
            <a:ext cx="100584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1560" y="4645152"/>
            <a:ext cx="100858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EVIDENCE  </a:t>
            </a:r>
            <a:r>
              <a:rPr sz="1200" b="0">
                <a:solidFill>
                  <a:srgbClr val="161B26"/>
                </a:solidFill>
                <a:latin typeface="Arial"/>
              </a:rPr>
              <a:t>EV: 320 / 345 / 325 → choose Option 2. EVwPI = 0.3·400 + 0.5·390 + 0.2·250 = 365. EVPI = 365 − 345 = $20k.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EXPECTED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Evidence — EV by Option vs EVwPI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Option 2 has the highest EV ($345k). The gap up to EVwPI ($365k) is the $20k value of perfect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 &amp;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Value, EVwPI and EVPI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EV column shows Option 1 = 320, Option 2 = 345, Option 3 = 325; the best-EV flag points to Option 2; EVwPI reads 365 and EVPI reads 20 (all in $'000).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 — DIAGNOSE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Probabilities do not sum to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F4 must equal 1. A typo in C4:E4 skews every EV. Fix the probabilities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 uses the wrong probability 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Lock the probability range with $C$4:$E$4 so SUMPRODUCT always multiplies by the correct state probabilities.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EVPI comes out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You subtracted in the wrong order or picked the wrong best EV. EVPI = EVwPI − best EV and is always ≥ 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ROBUSTNESS OF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Sensitive Is the Choice to the Probabilities?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Option 2 stays the EV-best choice across this range; only if a favourable market becomes very likely (P(Fav) &gt; ~0.66) would Option 1 overtake — the recommendation is robust.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VALUING A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EVPI in Practice — Is a Market Study Worth 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EVPI caps what perfect information is worth. Compare it to the price of a real, imperfect study.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from Lab 4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EVPI = EVwPI - best EV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 = 365 - 345 = $20k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a market study costs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 = $15k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perfect info worth $20k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an imperfect study &lt; $20k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-&gt; a $15k study can pay off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never pay more than $20k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EVPI is the ceiling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$20k is the most any information is worth 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Real studies are imperfect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Their value sits below EVPI.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Compare to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$15k study can pay off; a $25k one cannot.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Never pay more than EVPI for information.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LIMITS OF 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Expected Value Is Not the Whole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 ignores spread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Two options with the same EV can carry very different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Ruinous downside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high-EV gamble with a small chance of ruin may be unacceptable.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Attitude matters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Most managers are risk-averse — they trade some EV for certainty.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Enter utility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Utility replaces money with satisfaction to capture risk attitude.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MONEY TO 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Expected Utility — Capturing Risk Attitude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Utility function U(x)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Maps money to satisfaction — usually with diminishing returns.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Risk-averse (concave)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U(x)=√x: each extra dollar adds less utility — prefers certainty.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Expected utility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EU = Σ p·U(payoff) — rank options by EU, not EV.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Certainty equivalent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CE = U⁻¹(EU): the guaranteed sum worth the same as the gamble.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SHAPE = ATTITUDE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Utility Curves — Three Risk Attitudes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concave curve (√x) is risk-averse: it values a sure $50 above a 50/50 gamble on $0 or $100. Convex is risk-seeking; a straight line is risk-neutral (pure EV).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RISK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Utility, Certainty Equivalent &amp; Risk 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1008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EXPECTED UTILITY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EU = Σ pᵢ · U(xᵢ)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average satisfaction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93136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93136"/>
            <a:ext cx="109728" cy="1008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102864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CERTAINTY EQUIVALENT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993136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CE = U⁻¹(EU)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84576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sure sum of equal worth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03192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03192"/>
            <a:ext cx="109728" cy="1008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312920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RISK PREMIUM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203192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Risk premium = EV − 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294632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risk costs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94960"/>
            <a:ext cx="10634472" cy="713232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394960"/>
            <a:ext cx="100584" cy="7132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04688"/>
            <a:ext cx="100858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READ IT AS  </a:t>
            </a:r>
            <a:r>
              <a:rPr sz="1200" b="0">
                <a:solidFill>
                  <a:srgbClr val="161B26"/>
                </a:solidFill>
                <a:latin typeface="Arial"/>
              </a:rPr>
              <a:t>for a risk-averse manager CE ≤ EV always; the gap is the risk premium.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PICKING U(x)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Choosing a Utility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Match the attitude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Concave = risk-averse, linear = neutral, convex = risk-seeking.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Common choices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sqrt(x) and log(x) for risk aversion; 1 - e^(-x/R) with risk tolerance 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Calibrate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the manager for the certainty equivalent of one 50-50 gamble to fix the curve.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Stay consistent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same utility function across every option you compare.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 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and Expected Utility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A6, K2 — review sufficiency and optimal utilisation when outcomes carry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Compare two resource-allocation projects with the SAME expected value but different risk, using a utility function to separate the risk-averse choice from a risk-neutral one, and quantify the risk premium.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utility table showing that with U(x)=√x the safer Project A (certainty equivalent $49.5k) beats the risky Project B ($40.0k) even though both have EV=$50k.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 Excel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EV_A = EV_B = 50, but EU_A = 7.035 &gt; EU_B = 6.325 and CE_A = 49.5 &gt; CE_B = 40.0, so the risk-averse choice is Project A; Project B carries a $10k risk premium versus A's $0.5k.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HOW IT RUNS (NO CLICKS — SEE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and Expected Utility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up two 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Same EV=$50k: Project A pays…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a utility function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Risk-averse U(x)=√x maps…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expected utility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EU = Σ probability ×…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Find certainty equivalents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CE = U⁻¹(EU): the guaranteed…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off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Risk premium = EV − CE; the…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63440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63440"/>
            <a:ext cx="100584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73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657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A6, K2 — review sufficiency and optimal utilisation when outcomes carry risk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UTILITY SEPARATES THE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Evidence — Equal EV, Different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126894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198059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4134" y="1828800"/>
            <a:ext cx="255227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7286" y="18288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Outcomes ($'000)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6407" y="1828800"/>
            <a:ext cx="1063447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9559" y="1828800"/>
            <a:ext cx="91714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9854" y="1828800"/>
            <a:ext cx="1701515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3006" y="18288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Exp. utility 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369" y="1828800"/>
            <a:ext cx="1701515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4521" y="18288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Certainty equiv.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22884" y="1828800"/>
            <a:ext cx="1488826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96036" y="1828800"/>
            <a:ext cx="134252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Risk premium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286000"/>
            <a:ext cx="21268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286000"/>
            <a:ext cx="198059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 — Safe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04134" y="2286000"/>
            <a:ext cx="255227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7286" y="22860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40 / 60 (50-50)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56407" y="2286000"/>
            <a:ext cx="1063447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29559" y="2286000"/>
            <a:ext cx="91714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9854" y="2286000"/>
            <a:ext cx="17015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3006" y="22860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7.035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1369" y="2286000"/>
            <a:ext cx="1701515" cy="457200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4521" y="22860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49.5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2884" y="2286000"/>
            <a:ext cx="1488826" cy="457200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6036" y="2286000"/>
            <a:ext cx="134252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2743200"/>
            <a:ext cx="212689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2743200"/>
            <a:ext cx="198059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 — Risky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04134" y="2743200"/>
            <a:ext cx="255227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7286" y="2743200"/>
            <a:ext cx="240596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10 / 90 (50-50)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56407" y="2743200"/>
            <a:ext cx="1063447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29559" y="2743200"/>
            <a:ext cx="91714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19854" y="2743200"/>
            <a:ext cx="1701515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93006" y="27432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6.325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1369" y="2743200"/>
            <a:ext cx="1701515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4521" y="27432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40.0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22884" y="2743200"/>
            <a:ext cx="1488826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96036" y="2743200"/>
            <a:ext cx="134252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10.0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3346704"/>
            <a:ext cx="256032" cy="256032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6424" y="33284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Higher certainty equivalent → choose 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3730752"/>
            <a:ext cx="10634472" cy="603504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3730752"/>
            <a:ext cx="100584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3730752"/>
            <a:ext cx="100858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EVIDENCE  </a:t>
            </a:r>
            <a:r>
              <a:rPr sz="1200" b="0">
                <a:solidFill>
                  <a:srgbClr val="161B26"/>
                </a:solidFill>
                <a:latin typeface="Arial"/>
              </a:rPr>
              <a:t>Both projects have EV $50k, but A's certainty equivalent ($49.5k) beats B's ($40.0k). A risk-averse manager chooses A; B carries a $10k risk premium.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RISK-ADJUSTED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5 Evidence — EV Ties, Certainty Equivalent Decides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 cannot tell the projects apart; the certainty equivalent can — and it points clearly to the safer Project 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 &amp;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and Expected Utility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EV_A = EV_B = 50, but EU_A = 7.035 &gt; EU_B = 6.325 and CE_A = 49.5 &gt; CE_B = 40.0, so the risk-averse choice is Project A; Project B carries a $10k risk premium versus A's $0.5k.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 — DIAGNOSE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Both projects tie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You compared EV, not expected utility. With equal EV the tie-break is EU / certainty equivalent, not EV.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Utility applied to the EV instead of each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Apply U(x) to every outcome first, then average — U(E[x]) ≠ E[U(x)] (that gap is exactly the risk premium).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Certainty equivalent exceeds 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For a risk-averse (concave) utility, CE ≤ EV always. A CE above EV means the inverse was applied wrongly.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2 ·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Decision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decision problem = decisions × uncertain states (with probabilities) → payoffs; a decision tree makes it visible.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Value ranks the options: KAZO's best is Option 2 at $345k.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EVwPI ($365k) values perfect foresight; EVPI ($20k) is the most to pay for perfect information.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Value ignores risk; Expected Utility and the certainty equivalent capture a risk-averse attitude.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Equal-EV projects can differ sharply once risk is priced — Project A (CE $49.5k) beats Project B (CE $40.0k).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Multi-Criteria Decision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297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Weighted scoring board · Analytic Hierarchy Process · pairwise comparison, consistency and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4 hrs · K3, A7, A8,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Multi-Criteria Decision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Real decisions weigh many criteria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When cost, quality, risk and fit all matter, a single objective is not enough — you need a multi-criteria method.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scoring board is the quick tool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Weight each criterion, rate each option, and rank by the weighted total score = Σ weight × rating.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25368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25368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71246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35096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AHP adds rigour through pairwise comparison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criteria two at a time on Saaty's 1-9 scale and derive priority weights from the comparison matrix.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25368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25368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71246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35096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Consistency is checkable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Consistency Ratio CR = CI/RI tests whether your judgements hang together; CR ≤ 0.10 is acceptable.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67656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67656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5475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77384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AHP synthesises a defensible ranking and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Combine criteria priorities with per-criterion scores to rank options, and reuse the weights as resource-management KPIs.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MULTI-CRITERIA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When One Number Isn't Enough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Many criteria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Real choices weigh cost, quality, delivery, risk and fit at once.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Different units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Dollars, days, ratings — not directly comparable.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Trade-offs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cheapest option is rarely the best on quality.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MCDA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Multi-Criteria Decision Analysis combines criteria into one defensible ranking.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FIVE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MCDA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List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What matters for this decision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3375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28600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Weight them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How important each criterion…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3375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28600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 options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Rate every option per…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3375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28600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Weighted total per option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3375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28600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Rank &amp;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Recommend and stress-test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63440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63440"/>
            <a:ext cx="100584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73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657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transparent, repeatable path from many criteria to one ranking you can defend.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QUICK MCDA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Weighted Scoring 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1008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Score(option) = Σ  wⱼ · rⱼ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weight × rating, summed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93136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93136"/>
            <a:ext cx="109728" cy="1008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102864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993136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wⱼ = importance of criterion 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84576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set by the decision-maker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03192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03192"/>
            <a:ext cx="109728" cy="1008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312920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RATINGS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203192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rⱼ = how the option scores on 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294632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common 1-5 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94960"/>
            <a:ext cx="10634472" cy="713232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394960"/>
            <a:ext cx="100584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04688"/>
            <a:ext cx="100858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IT AS  </a:t>
            </a:r>
            <a:r>
              <a:rPr sz="1200" b="0">
                <a:solidFill>
                  <a:srgbClr val="161B26"/>
                </a:solidFill>
                <a:latin typeface="Arial"/>
              </a:rPr>
              <a:t>rank options by weighted total; keep every criterion on the same scale.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Scoring Board Layout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615720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34694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2960" y="1828800"/>
            <a:ext cx="233958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6112" y="18288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32543" y="1828800"/>
            <a:ext cx="233958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05695" y="18288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Option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72126" y="1828800"/>
            <a:ext cx="2339583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5278" y="18288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Option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86000"/>
            <a:ext cx="3615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286000"/>
            <a:ext cx="34694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Criterion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2960" y="2286000"/>
            <a:ext cx="233958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6112" y="22860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32543" y="2286000"/>
            <a:ext cx="233958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5695" y="22860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 · 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2126" y="2286000"/>
            <a:ext cx="233958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5278" y="22860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 · 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743200"/>
            <a:ext cx="36157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2743200"/>
            <a:ext cx="34694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Criterion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2960" y="2743200"/>
            <a:ext cx="233958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6112" y="27432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32543" y="2743200"/>
            <a:ext cx="233958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5695" y="27432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 ·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72126" y="2743200"/>
            <a:ext cx="2339583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5278" y="27432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 · 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200400"/>
            <a:ext cx="3615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3200400"/>
            <a:ext cx="34694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Weighted total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92960" y="3200400"/>
            <a:ext cx="2339583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6112" y="32004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732543" y="3200400"/>
            <a:ext cx="2339583" cy="457200"/>
          </a:xfrm>
          <a:prstGeom prst="rect">
            <a:avLst/>
          </a:prstGeom>
          <a:solidFill>
            <a:srgbClr val="FFE4C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05695" y="32004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Σ w·r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72126" y="3200400"/>
            <a:ext cx="2339583" cy="457200"/>
          </a:xfrm>
          <a:prstGeom prst="rect">
            <a:avLst/>
          </a:prstGeom>
          <a:solidFill>
            <a:srgbClr val="FFE4C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5278" y="3200400"/>
            <a:ext cx="2193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Σ w·r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803904"/>
            <a:ext cx="256032" cy="256032"/>
          </a:xfrm>
          <a:prstGeom prst="rect">
            <a:avLst/>
          </a:prstGeom>
          <a:solidFill>
            <a:srgbClr val="FFE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6424" y="37856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Weighted total = SUMPRODUCT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187952"/>
            <a:ext cx="10634472" cy="603504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187952"/>
            <a:ext cx="100584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187952"/>
            <a:ext cx="100858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EVIDENCE  </a:t>
            </a:r>
            <a:r>
              <a:rPr sz="1200" b="0">
                <a:solidFill>
                  <a:srgbClr val="161B26"/>
                </a:solidFill>
                <a:latin typeface="Arial"/>
              </a:rPr>
              <a:t>Each option's total is =SUMPRODUCT(weights, ratings). The highest total wins.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 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Weighted Scoring Board (MCDA)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A7, K3 — propose improvements by ranking options against several weighted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Rank three suppliers against five weighted criteria using a scoring board: weight each criterion, rate each supplier, and compute the weighted total score.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scoring board that ranks Supplier A (42) above B (41) and C (40), with a sensitivity check on the criterion weights.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 Excel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weighted totals read Supplier A = 42, Supplier B = 41, Supplier C = 40, so Supplier A ranks first; raising the Price weight shifts the ranking toward Supplier 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HOW IT RUNS (NO CLICKS — SEE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Weighted Scoring Board (MCDA)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List criteria &amp;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Price, Quality, Lead time…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Rate each 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Score every supplier 1-5 on…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Weight the ratings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Weighted cell = weight ×…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Total and rank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Total score = Σ weight ×…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Sensitivity 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Change a weight and see…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63440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63440"/>
            <a:ext cx="100584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73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657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A7, K3 — propose improvements by ranking options against several weighted criteria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WEIGHTED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Evidence — Supplier Scoring 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977652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4892" y="1828800"/>
            <a:ext cx="1701515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8044" y="18288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6407" y="1828800"/>
            <a:ext cx="2020549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9559" y="18288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Supplier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828800"/>
            <a:ext cx="2020549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0108" y="18288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Supplier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97505" y="1828800"/>
            <a:ext cx="1914204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0657" y="18288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Supplier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86000"/>
            <a:ext cx="29776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2860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54892" y="2286000"/>
            <a:ext cx="17015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8044" y="22860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56407" y="2286000"/>
            <a:ext cx="202054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29559" y="22860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286000"/>
            <a:ext cx="202054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0108" y="22860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97505" y="2286000"/>
            <a:ext cx="19142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0657" y="22860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743200"/>
            <a:ext cx="29776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27432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54892" y="2743200"/>
            <a:ext cx="1701515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28044" y="27432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56407" y="2743200"/>
            <a:ext cx="2020549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29559" y="27432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743200"/>
            <a:ext cx="2020549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0108" y="27432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97505" y="2743200"/>
            <a:ext cx="191420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0657" y="27432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200400"/>
            <a:ext cx="29776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32004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Lead 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54892" y="3200400"/>
            <a:ext cx="17015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28044" y="32004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56407" y="3200400"/>
            <a:ext cx="202054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29559" y="32004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200400"/>
            <a:ext cx="202054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50108" y="32004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97505" y="3200400"/>
            <a:ext cx="19142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0657" y="32004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3657600"/>
            <a:ext cx="29776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36576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Reliability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54892" y="3657600"/>
            <a:ext cx="1701515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28044" y="36576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56407" y="3657600"/>
            <a:ext cx="2020549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29559" y="36576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6" y="3657600"/>
            <a:ext cx="2020549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50108" y="36576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97505" y="3657600"/>
            <a:ext cx="191420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0657" y="36576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4114800"/>
            <a:ext cx="29776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2" y="41148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54892" y="4114800"/>
            <a:ext cx="170151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28044" y="41148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56407" y="4114800"/>
            <a:ext cx="202054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29559" y="41148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76956" y="4114800"/>
            <a:ext cx="202054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50108" y="41148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97505" y="4114800"/>
            <a:ext cx="19142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70657" y="41148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4572000"/>
            <a:ext cx="29776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2" y="45720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Weighted total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54892" y="4572000"/>
            <a:ext cx="1701515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28044" y="4572000"/>
            <a:ext cx="155521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5456407" y="4572000"/>
            <a:ext cx="2020549" cy="457200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29559" y="45720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76956" y="4572000"/>
            <a:ext cx="2020549" cy="457200"/>
          </a:xfrm>
          <a:prstGeom prst="rect">
            <a:avLst/>
          </a:prstGeom>
          <a:solidFill>
            <a:srgbClr val="FFE4C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50108" y="4572000"/>
            <a:ext cx="18742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97505" y="4572000"/>
            <a:ext cx="1914204" cy="457200"/>
          </a:xfrm>
          <a:prstGeom prst="rect">
            <a:avLst/>
          </a:prstGeom>
          <a:solidFill>
            <a:srgbClr val="FFE4C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70657" y="45720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7240" y="5175504"/>
            <a:ext cx="256032" cy="256032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06424" y="51572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Winner (42)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68880" y="5175504"/>
            <a:ext cx="256032" cy="256032"/>
          </a:xfrm>
          <a:prstGeom prst="rect">
            <a:avLst/>
          </a:prstGeom>
          <a:solidFill>
            <a:srgbClr val="FFE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98064" y="51572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Weighted totals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" y="5559552"/>
            <a:ext cx="10634472" cy="603504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" y="5559552"/>
            <a:ext cx="100584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1560" y="5559552"/>
            <a:ext cx="100858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EVIDENCE  </a:t>
            </a:r>
            <a:r>
              <a:rPr sz="1200" b="0">
                <a:solidFill>
                  <a:srgbClr val="161B26"/>
                </a:solidFill>
                <a:latin typeface="Arial"/>
              </a:rPr>
              <a:t>Supplier A wins (42) — but by a single point over B. Close totals are exactly why AHP's pairwise weighting is used next.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A NARROW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Lab 6 Evidence — Supplier Totals &amp; Weight Sensitivity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With only one point separating the top two, raising the Price weight can flip the ranking to Supplier B — the result is sensitive to the weights.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 &amp;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Weighted Scoring Board (MCDA)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weighted totals read Supplier A = 42, Supplier B = 41, Supplier C = 40, so Supplier A ranks first; raising the Price weight shifts the ranking toward Supplier 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 — DIAGNOSE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All suppliers score the same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weights are all equal or all 1. Differentiate the weights to reflect real priorities.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Ratings on different scales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Keep every criterion on the same 1-5 scale, or normalise first — mixing scales silently biases the total.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Ranking feels arbitrary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Scores are close (42/41/40). That fragility is exactly why AHP's pairwise weighting is used next.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MAKING CRITERIA COMPARABLE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Normalising Weights &amp; Ratings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Weights sum to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Divide each weight by the total so priorities are comparable.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One rating scale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every criterion on the same scale (e.g. 1-5) before weighting.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Reverse cost criteria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 'lower is better', map cheapest to the highest score.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it matters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Un-normalised scores let a large-numbered criterion dominate by accident.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HOW WEIGHTS DRIVE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Scoring Board — Weight Sensitivity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254550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Price weight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193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Supplier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510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Supplier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827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Winner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25856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3 (base)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193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510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827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Supplier 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9864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89864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193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510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827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Supplier 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3872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353872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193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510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9827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Supplier 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61688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361688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471416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WHY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raising the Price weight, where B leads, flips the winner — a reason to derive weights rigorously with AHP.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AHP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Scoring Boards to AHP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Weights feel arbitrary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Where did 'Price = 3' come from? Scoring boards rarely justify the weights.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Pairwise is easier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 compare two things at a time more reliably than rating all at once.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AHP derives weights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Analytic Hierarchy Process turns pairwise judgements into priority weights.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And checks them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AHP measures whether your judgements are consistent (the CR).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GOAL → CRITERIA →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AHP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92727" y="1828800"/>
            <a:ext cx="4206240" cy="640080"/>
          </a:xfrm>
          <a:prstGeom prst="roundRect">
            <a:avLst>
              <a:gd name="adj" fmla="val 1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GOAL — best resource-allocation option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920240" y="2468880"/>
            <a:ext cx="4175607" cy="731520"/>
          </a:xfrm>
          <a:prstGeom prst="line">
            <a:avLst/>
          </a:prstGeom>
          <a:ln w="15875">
            <a:solidFill>
              <a:srgbClr val="5B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320040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00400"/>
            <a:ext cx="2286000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4703064" y="2468880"/>
            <a:ext cx="1392783" cy="731520"/>
          </a:xfrm>
          <a:prstGeom prst="line">
            <a:avLst/>
          </a:prstGeom>
          <a:ln w="15875">
            <a:solidFill>
              <a:srgbClr val="5B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0064" y="320040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0064" y="3200400"/>
            <a:ext cx="228600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095847" y="2468880"/>
            <a:ext cx="1390041" cy="731520"/>
          </a:xfrm>
          <a:prstGeom prst="line">
            <a:avLst/>
          </a:prstGeom>
          <a:ln w="15875">
            <a:solidFill>
              <a:srgbClr val="5B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42888" y="320040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61B26"/>
                </a:solidFill>
                <a:latin typeface="Arial"/>
              </a:rPr>
              <a:t>Delivery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42888" y="3200400"/>
            <a:ext cx="228600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095847" y="2468880"/>
            <a:ext cx="4172865" cy="731520"/>
          </a:xfrm>
          <a:prstGeom prst="line">
            <a:avLst/>
          </a:prstGeom>
          <a:ln w="15875">
            <a:solidFill>
              <a:srgbClr val="5B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25712" y="320040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61B26"/>
                </a:solidFill>
                <a:latin typeface="Arial"/>
              </a:rPr>
              <a:t>Flexibility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5712" y="3200400"/>
            <a:ext cx="228600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920240" y="4023360"/>
            <a:ext cx="411480" cy="73152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331720" y="4023360"/>
            <a:ext cx="2371344" cy="73152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331720" y="4023360"/>
            <a:ext cx="5154168" cy="73152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331720" y="4023360"/>
            <a:ext cx="7936992" cy="73152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" y="4754880"/>
            <a:ext cx="3108960" cy="777240"/>
          </a:xfrm>
          <a:prstGeom prst="roundRect">
            <a:avLst>
              <a:gd name="adj" fmla="val 10000"/>
            </a:avLst>
          </a:prstGeom>
          <a:solidFill>
            <a:srgbClr val="ECF2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Plan 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20240" y="4023360"/>
            <a:ext cx="4174236" cy="73152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03064" y="4023360"/>
            <a:ext cx="1391412" cy="73152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094476" y="4023360"/>
            <a:ext cx="1391412" cy="73152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094476" y="4023360"/>
            <a:ext cx="4174236" cy="73152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39996" y="4754880"/>
            <a:ext cx="3108960" cy="777240"/>
          </a:xfrm>
          <a:prstGeom prst="roundRect">
            <a:avLst>
              <a:gd name="adj" fmla="val 10000"/>
            </a:avLst>
          </a:prstGeom>
          <a:solidFill>
            <a:srgbClr val="ECF2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Plan Q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20240" y="4023360"/>
            <a:ext cx="7936992" cy="73152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03064" y="4023360"/>
            <a:ext cx="5154168" cy="73152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85888" y="4023360"/>
            <a:ext cx="2371344" cy="73152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9857232" y="4023360"/>
            <a:ext cx="411480" cy="73152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302752" y="4754880"/>
            <a:ext cx="3108960" cy="777240"/>
          </a:xfrm>
          <a:prstGeom prst="roundRect">
            <a:avLst>
              <a:gd name="adj" fmla="val 10000"/>
            </a:avLst>
          </a:prstGeom>
          <a:solidFill>
            <a:srgbClr val="ECF2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Plan 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AHP structures the decision top-down: weight the criteria, score the alternatives per criterion, then synthesise.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AHP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Parts of AHP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3288792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328879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38172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817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3032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Prioritise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31059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Pairwise-compare the criteria…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20896" y="33375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50080" y="2286000"/>
            <a:ext cx="3288792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50080" y="2286000"/>
            <a:ext cx="328879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11012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101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8096" y="3218688"/>
            <a:ext cx="3032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520" y="3840480"/>
            <a:ext cx="31059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Consistency Ratio CR ≤ 0.10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93736" y="33375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22920" y="2286000"/>
            <a:ext cx="3288792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2920" y="2286000"/>
            <a:ext cx="328879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83852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385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0936" y="3218688"/>
            <a:ext cx="3032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Synthesise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4360" y="3840480"/>
            <a:ext cx="31059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Combine to rank the…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663440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663440"/>
            <a:ext cx="100584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773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0657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AHP produces weights AND a consistency check AND a final ranking — all traceable.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COMPARE TWO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Saaty's 1-9 Pairwise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254550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Judgement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1930" y="1783080"/>
            <a:ext cx="371529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6685" y="1783080"/>
            <a:ext cx="371529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78536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58568"/>
            <a:ext cx="2545506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Equal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78536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1930" y="2258568"/>
            <a:ext cx="3715299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78536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6685" y="2258568"/>
            <a:ext cx="3715299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Both criteria matter equally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37104"/>
            <a:ext cx="2764962" cy="478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2737104"/>
            <a:ext cx="2545506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Moderate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37104"/>
            <a:ext cx="3934755" cy="478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1930" y="2737104"/>
            <a:ext cx="3715299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37104"/>
            <a:ext cx="3934755" cy="478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6685" y="2737104"/>
            <a:ext cx="3715299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is moderately more important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15640"/>
            <a:ext cx="2764962" cy="478536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215640"/>
            <a:ext cx="2545506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Strong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15640"/>
            <a:ext cx="3934755" cy="478536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1930" y="3215640"/>
            <a:ext cx="3715299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15640"/>
            <a:ext cx="3934755" cy="478536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6685" y="3215640"/>
            <a:ext cx="3715299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is strongly more important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94176"/>
            <a:ext cx="2764962" cy="478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3694176"/>
            <a:ext cx="2545506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Very strong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94176"/>
            <a:ext cx="3934755" cy="478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1930" y="3694176"/>
            <a:ext cx="3715299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694176"/>
            <a:ext cx="3934755" cy="478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6685" y="3694176"/>
            <a:ext cx="3715299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is very strongly more important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72712"/>
            <a:ext cx="2764962" cy="478536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4172712"/>
            <a:ext cx="2545506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Extreme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172712"/>
            <a:ext cx="3934755" cy="478536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1930" y="4172712"/>
            <a:ext cx="3715299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172712"/>
            <a:ext cx="3934755" cy="478536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6685" y="4172712"/>
            <a:ext cx="3715299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utterly dominates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51248"/>
            <a:ext cx="2764962" cy="478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" y="4651248"/>
            <a:ext cx="2545506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Reciprocal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651248"/>
            <a:ext cx="3934755" cy="478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1930" y="4651248"/>
            <a:ext cx="3715299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1/n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651248"/>
            <a:ext cx="3934755" cy="478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6685" y="4651248"/>
            <a:ext cx="3715299" cy="47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reverse comparison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WHY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if Cost is 'moderately' more important than Quality, enter 3 — and 1/3 in the mirror cell.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· JUDGEMENTS ON THE 1-9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Criteria Pairwise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28800" cy="475488"/>
          </a:xfrm>
          <a:prstGeom prst="rect">
            <a:avLst/>
          </a:prstGeom>
          <a:solidFill>
            <a:srgbClr val="33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168249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920240"/>
            <a:ext cx="220141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920240"/>
            <a:ext cx="220141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7458" y="1920240"/>
            <a:ext cx="2201418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7458" y="1920240"/>
            <a:ext cx="220141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8876" y="1920240"/>
            <a:ext cx="2201418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8876" y="1920240"/>
            <a:ext cx="220141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10294" y="1920240"/>
            <a:ext cx="2201418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0294" y="1920240"/>
            <a:ext cx="220141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Flexibility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395728"/>
            <a:ext cx="182880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395728"/>
            <a:ext cx="16824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2395728"/>
            <a:ext cx="2201418" cy="566928"/>
          </a:xfrm>
          <a:prstGeom prst="rect">
            <a:avLst/>
          </a:prstGeom>
          <a:solidFill>
            <a:srgbClr val="ECF2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2395728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7458" y="2395728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395728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8876" y="2395728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8876" y="2395728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10294" y="2395728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95728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62656"/>
            <a:ext cx="182880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2962656"/>
            <a:ext cx="16824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2962656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40" y="2962656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7458" y="2962656"/>
            <a:ext cx="2201418" cy="566928"/>
          </a:xfrm>
          <a:prstGeom prst="rect">
            <a:avLst/>
          </a:prstGeom>
          <a:solidFill>
            <a:srgbClr val="ECF2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7458" y="2962656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08876" y="2962656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08876" y="2962656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10294" y="2962656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0294" y="2962656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529584"/>
            <a:ext cx="182880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3529584"/>
            <a:ext cx="16824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Delivery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3529584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06040" y="3529584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7458" y="3529584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7458" y="3529584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08876" y="3529584"/>
            <a:ext cx="2201418" cy="566928"/>
          </a:xfrm>
          <a:prstGeom prst="rect">
            <a:avLst/>
          </a:prstGeom>
          <a:solidFill>
            <a:srgbClr val="ECF2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08876" y="3529584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10294" y="3529584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0294" y="3529584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096512"/>
            <a:ext cx="182880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4096512"/>
            <a:ext cx="16824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Flexibility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4096512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40" y="4096512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7458" y="4096512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7458" y="4096512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08876" y="4096512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08876" y="4096512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10294" y="4096512"/>
            <a:ext cx="2201418" cy="566928"/>
          </a:xfrm>
          <a:prstGeom prst="rect">
            <a:avLst/>
          </a:prstGeom>
          <a:solidFill>
            <a:srgbClr val="ECF2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10294" y="4096512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4828032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" y="4828032"/>
            <a:ext cx="100584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" y="4828032"/>
            <a:ext cx="1008583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HOW TO READ  </a:t>
            </a:r>
            <a:r>
              <a:rPr sz="1200" b="0">
                <a:solidFill>
                  <a:srgbClr val="161B26"/>
                </a:solidFill>
                <a:latin typeface="Arial"/>
              </a:rPr>
              <a:t>read the row against the column: Cost vs Quality = 3 (moderately more important); the mirror cell is 1/3.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· FROM MATRIX TO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Deriving the Priority Weights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Normalise each column (divide by its total), then average each row — that row average is the criterion's priority weight.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1. column totals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Cost 2.333  Quality 12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Delivery 5.25  Flex 3.75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2. normalise each cell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cell / column total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3. priority = row average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Cost      = 0.398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Quality   = 0.085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Delivery  = 0.218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Flex      = 0.299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sum       = 1.000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Column totals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each column of the pairwise matrix.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Normalise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Divide every cell by its column total so each column sums to 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Row average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Average each normalised row → the priority weight.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Sanity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four priorities sum to 1.000.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DERIVED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Cost dominates at 0.398 (about 40%); Quality is least important at 0.085. These weights drive the final ranking.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 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AHP — Criteria Priorities and 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A8, K3 — refine the plan by deriving defensible criteria weights and checking their 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the Analytic Hierarchy Process to weight four resource-management criteria by pairwise comparison on Saaty's 1-9 scale, derive priority weights, and verify judgement consistency with the Consistency Ratio.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Criteria priorities Cost 0.398, Quality 0.085, Delivery 0.218, Flexibility 0.299, with lambda_max=4.185, CI=0.062 and CR=0.068 (consistent).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 Excel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priority vector reads Cost 0.398, Quality 0.085, Delivery 0.218, Flexibility 0.299 (sum 1.000); lambda_max = 4.185, CI = 0.062, CR = 0.068 which is ≤ 0.10, so the criteria weights are consistent and usable.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HOW IT RUNS (NO CLICKS — SEE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AHP — Criteria Priorities and 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the pairwise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Compare each pair of criteria…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Normalise the 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Divide each cell by its…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Derive priorities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Priority of a criterion = the…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lambda_max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Weighted-sum vector ÷…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consistency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CR = CI/RI must be ≤ 0.10 to…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63440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63440"/>
            <a:ext cx="100584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73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657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A8, K3 — refine the plan by deriving defensible criteria weights and checking their consistency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PAIRWISE →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Evidence — Criteria Matrix &amp;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28800" cy="475488"/>
          </a:xfrm>
          <a:prstGeom prst="rect">
            <a:avLst/>
          </a:prstGeom>
          <a:solidFill>
            <a:srgbClr val="33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168249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920240"/>
            <a:ext cx="1761134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920240"/>
            <a:ext cx="176113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7174" y="1920240"/>
            <a:ext cx="1761134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7174" y="1920240"/>
            <a:ext cx="176113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8308" y="1920240"/>
            <a:ext cx="1761134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8308" y="1920240"/>
            <a:ext cx="176113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9442" y="1920240"/>
            <a:ext cx="1761134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9442" y="1920240"/>
            <a:ext cx="176113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Flexibility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50576" y="1920240"/>
            <a:ext cx="1761134" cy="475488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0576" y="1920240"/>
            <a:ext cx="176113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Priority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395728"/>
            <a:ext cx="182880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395728"/>
            <a:ext cx="16824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2395728"/>
            <a:ext cx="1761134" cy="566928"/>
          </a:xfrm>
          <a:prstGeom prst="rect">
            <a:avLst/>
          </a:prstGeom>
          <a:solidFill>
            <a:srgbClr val="ECF2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40" y="2395728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7174" y="2395728"/>
            <a:ext cx="176113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7174" y="2395728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8308" y="2395728"/>
            <a:ext cx="176113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8308" y="2395728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89442" y="2395728"/>
            <a:ext cx="176113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9442" y="2395728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50576" y="2395728"/>
            <a:ext cx="1761134" cy="566928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50576" y="2395728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0.398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2962656"/>
            <a:ext cx="182880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2962656"/>
            <a:ext cx="16824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2962656"/>
            <a:ext cx="176113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40" y="2962656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67174" y="2962656"/>
            <a:ext cx="1761134" cy="566928"/>
          </a:xfrm>
          <a:prstGeom prst="rect">
            <a:avLst/>
          </a:prstGeom>
          <a:solidFill>
            <a:srgbClr val="ECF2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7174" y="2962656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8308" y="2962656"/>
            <a:ext cx="176113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8308" y="2962656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89442" y="2962656"/>
            <a:ext cx="176113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89442" y="2962656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50576" y="2962656"/>
            <a:ext cx="1761134" cy="566928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0576" y="2962656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0.085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3529584"/>
            <a:ext cx="182880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3529584"/>
            <a:ext cx="16824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Delivery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40" y="3529584"/>
            <a:ext cx="176113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40" y="3529584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67174" y="3529584"/>
            <a:ext cx="176113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67174" y="3529584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8308" y="3529584"/>
            <a:ext cx="1761134" cy="566928"/>
          </a:xfrm>
          <a:prstGeom prst="rect">
            <a:avLst/>
          </a:prstGeom>
          <a:solidFill>
            <a:srgbClr val="ECF2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8308" y="3529584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89442" y="3529584"/>
            <a:ext cx="176113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9442" y="3529584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50576" y="3529584"/>
            <a:ext cx="1761134" cy="566928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50576" y="3529584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0.218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096512"/>
            <a:ext cx="182880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" y="4096512"/>
            <a:ext cx="16824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Flexibility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40" y="4096512"/>
            <a:ext cx="176113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40" y="4096512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67174" y="4096512"/>
            <a:ext cx="176113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67174" y="4096512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8308" y="4096512"/>
            <a:ext cx="176113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8308" y="4096512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89442" y="4096512"/>
            <a:ext cx="1761134" cy="566928"/>
          </a:xfrm>
          <a:prstGeom prst="rect">
            <a:avLst/>
          </a:prstGeom>
          <a:solidFill>
            <a:srgbClr val="ECF2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89442" y="4096512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50576" y="4096512"/>
            <a:ext cx="1761134" cy="566928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50576" y="4096512"/>
            <a:ext cx="176113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0.299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4828032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7240" y="4828032"/>
            <a:ext cx="100584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1560" y="4828032"/>
            <a:ext cx="1008583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HOW TO READ  </a:t>
            </a:r>
            <a:r>
              <a:rPr sz="1200" b="0">
                <a:solidFill>
                  <a:srgbClr val="161B26"/>
                </a:solidFill>
                <a:latin typeface="Arial"/>
              </a:rPr>
              <a:t>the priority column is the row average of the column-normalised matrix; the four weights sum to 1.000.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IS THE JUDGEMENT SOUND?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Evidence — Checking 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1008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ΛMAX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λmax = avg( (A·w)ᵢ / wᵢ ) = 4.185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≥ n when consistent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93136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93136"/>
            <a:ext cx="109728" cy="1008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102864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CONSISTENCY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993136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CI = (λmax − n)/(n − 1) = 0.062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84576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 =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03192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03192"/>
            <a:ext cx="109728" cy="1008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312920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CONSISTENCY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203192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CR = CI / RI = 0.062 / 0.90 = 0.068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294632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RI(4) = 0.90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94960"/>
            <a:ext cx="10634472" cy="713232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394960"/>
            <a:ext cx="100584" cy="7132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04688"/>
            <a:ext cx="100858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READ IT AS  </a:t>
            </a:r>
            <a:r>
              <a:rPr sz="1200" b="0">
                <a:solidFill>
                  <a:srgbClr val="161B26"/>
                </a:solidFill>
                <a:latin typeface="Arial"/>
              </a:rPr>
              <a:t>CR = 0.068 ≤ 0.10 — the judgements are consistent, so the weights are trustworthy.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DIVIDE CI BY THE RIGHT 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Random Index (RI)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977652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275819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n (criteria)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4892" y="1783080"/>
            <a:ext cx="1276136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4620" y="1783080"/>
            <a:ext cx="1056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1028" y="1783080"/>
            <a:ext cx="1276136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0756" y="1783080"/>
            <a:ext cx="1056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7164" y="1783080"/>
            <a:ext cx="127613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6892" y="1783080"/>
            <a:ext cx="1056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3300" y="1783080"/>
            <a:ext cx="1276136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3028" y="1783080"/>
            <a:ext cx="1056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59436" y="1783080"/>
            <a:ext cx="1276136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9164" y="1783080"/>
            <a:ext cx="1056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35572" y="1783080"/>
            <a:ext cx="1276136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5300" y="1783080"/>
            <a:ext cx="1056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258568"/>
            <a:ext cx="297765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2258568"/>
            <a:ext cx="275819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Random Index RI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54892" y="2258568"/>
            <a:ext cx="1276136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64620" y="2258568"/>
            <a:ext cx="1056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0.58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31028" y="2258568"/>
            <a:ext cx="1276136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40756" y="2258568"/>
            <a:ext cx="1056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0.90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7164" y="2258568"/>
            <a:ext cx="1276136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6892" y="2258568"/>
            <a:ext cx="1056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1.12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3300" y="2258568"/>
            <a:ext cx="1276136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3028" y="2258568"/>
            <a:ext cx="1056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1.24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59436" y="2258568"/>
            <a:ext cx="1276136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9164" y="2258568"/>
            <a:ext cx="1056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1.32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35572" y="2258568"/>
            <a:ext cx="1276136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5300" y="2258568"/>
            <a:ext cx="1056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1.41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081528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3081528"/>
            <a:ext cx="10058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3191256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WHY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RI is the average CI of random reciprocal matrices of size n. For 4 criteria, RI = 0.90.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7 · THE 0.10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Consistency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Is the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Consistency Ratio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CR ≤ 0.10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— accept the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Judgements hang together. Use the priorities to score and rank the alternatives.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— revise judgements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Find the most inconsistent pair, re-judge it on the 1-9 scale, and recompute CR.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 ≤ 0.10 keeps AHP weights trustworthy without demanding perfect (CR = 0) consistency.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 &amp;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AHP — Criteria Priorities and 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priority vector reads Cost 0.398, Quality 0.085, Delivery 0.218, Flexibility 0.299 (sum 1.000); lambda_max = 4.185, CI = 0.062, CR = 0.068 which is ≤ 0.10, so the criteria weights are consistent and usable.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 — DIAGNOSE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Priorities do not sum to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You averaged the raw matrix, not the column-normalised matrix. Normalise each column first, then average the rows.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 is above 0.10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Judgements conflict (e.g. A≫B, B≫C but A≈C). Revisit the largest inconsistency and re-judge that pair.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Matrix is not reciprocal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Every lower-triangle cell must be 1/(its mirror). Enter reciprocals with =1/cell, never by hand.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TWO MCDA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AHP vs the Scoring 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254550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Aspect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1930" y="1783080"/>
            <a:ext cx="371529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Scoring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6685" y="1783080"/>
            <a:ext cx="371529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AHP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5856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1930" y="225856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directly (arbitrary)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6685" y="225856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Derived from pairwise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9864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289864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Consistency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98648"/>
            <a:ext cx="3934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1930" y="289864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Not checked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98648"/>
            <a:ext cx="3934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6685" y="289864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Consistency Ratio &lt;= 0.10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3872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53872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Effort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38728"/>
            <a:ext cx="3934755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1930" y="353872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38728"/>
            <a:ext cx="3934755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6685" y="353872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Higher (more comparisons)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17880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17880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Defensibility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178808"/>
            <a:ext cx="3934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1930" y="417880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178808"/>
            <a:ext cx="3934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6685" y="4178808"/>
            <a:ext cx="371529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High — every weight is justified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001768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001768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111496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WHY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a scoring board for a quick call; use AHP when the decision must be defended or the criteria conflict.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SCORE ALTERNATIVES THE SAME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Alternative-Level Pairwise (Criterion: Cost)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28800" cy="475488"/>
          </a:xfrm>
          <a:prstGeom prst="rect">
            <a:avLst/>
          </a:prstGeom>
          <a:solidFill>
            <a:srgbClr val="33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168249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920240"/>
            <a:ext cx="220141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920240"/>
            <a:ext cx="220141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Plan 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7458" y="1920240"/>
            <a:ext cx="2201418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7458" y="1920240"/>
            <a:ext cx="220141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Plan 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8876" y="1920240"/>
            <a:ext cx="2201418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8876" y="1920240"/>
            <a:ext cx="220141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Plan 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10294" y="1920240"/>
            <a:ext cx="2201418" cy="475488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0294" y="1920240"/>
            <a:ext cx="220141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Priority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395728"/>
            <a:ext cx="182880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395728"/>
            <a:ext cx="16824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Plan 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2395728"/>
            <a:ext cx="2201418" cy="566928"/>
          </a:xfrm>
          <a:prstGeom prst="rect">
            <a:avLst/>
          </a:prstGeom>
          <a:solidFill>
            <a:srgbClr val="ECF2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2395728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7458" y="2395728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395728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8876" y="2395728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8876" y="2395728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10294" y="2395728"/>
            <a:ext cx="2201418" cy="566928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95728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0.54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62656"/>
            <a:ext cx="182880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2962656"/>
            <a:ext cx="16824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Plan 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2962656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40" y="2962656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7458" y="2962656"/>
            <a:ext cx="2201418" cy="566928"/>
          </a:xfrm>
          <a:prstGeom prst="rect">
            <a:avLst/>
          </a:prstGeom>
          <a:solidFill>
            <a:srgbClr val="ECF2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7458" y="2962656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08876" y="2962656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08876" y="2962656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10294" y="2962656"/>
            <a:ext cx="2201418" cy="566928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0294" y="2962656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0.297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529584"/>
            <a:ext cx="182880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3529584"/>
            <a:ext cx="16824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Plan 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3529584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06040" y="3529584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7458" y="3529584"/>
            <a:ext cx="220141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7458" y="3529584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1/2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08876" y="3529584"/>
            <a:ext cx="2201418" cy="566928"/>
          </a:xfrm>
          <a:prstGeom prst="rect">
            <a:avLst/>
          </a:prstGeom>
          <a:solidFill>
            <a:srgbClr val="ECF2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08876" y="3529584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10294" y="3529584"/>
            <a:ext cx="2201418" cy="566928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0294" y="3529584"/>
            <a:ext cx="220141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0.163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261104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4261104"/>
            <a:ext cx="100584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4261104"/>
            <a:ext cx="1008583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HOW TO READ  </a:t>
            </a:r>
            <a:r>
              <a:rPr sz="1200" b="0">
                <a:solidFill>
                  <a:srgbClr val="161B26"/>
                </a:solidFill>
                <a:latin typeface="Arial"/>
              </a:rPr>
              <a:t>AHP repeats the pairwise process at the alternative level, once per criterion, to get each option's local priority.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FINAL AHP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Synthesis — Combining Criteria &amp;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9728" cy="1008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892808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GLOBAL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Global(option) = Σⱼ  Wⱼ · sⱼ(option)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20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criteria weight × local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93136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93136"/>
            <a:ext cx="109728" cy="1008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102864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LOCAL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993136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sⱼ = the option's normalised score on criterion 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84576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column sums to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03192"/>
            <a:ext cx="10634472" cy="1008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03192"/>
            <a:ext cx="109728" cy="1008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312920"/>
            <a:ext cx="2834640" cy="789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203192"/>
            <a:ext cx="5212080" cy="1008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Highest global score = recommended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294632"/>
            <a:ext cx="2057400" cy="826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fully traceable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94960"/>
            <a:ext cx="10634472" cy="713232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394960"/>
            <a:ext cx="100584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04688"/>
            <a:ext cx="100858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IT AS  </a:t>
            </a:r>
            <a:r>
              <a:rPr sz="1200" b="0">
                <a:solidFill>
                  <a:srgbClr val="161B26"/>
                </a:solidFill>
                <a:latin typeface="Arial"/>
              </a:rPr>
              <a:t>each option's global priority is the weighted sum of its per-criterion scores.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HOW THE RANKING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AHP Synthesis — The Arithmetic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Multiply each criterion weight by the plan's local score on that criterion, then sum.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criteria weights (Lab 7)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Cost .398  Quality .085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Delivery .218  Flex .299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Plan P local scores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.54  .16  .30  .33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global = sum(w * local)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.398*.54 + .085*.16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  + .218*.30 + .299*.33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= 0.393   (rank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Per 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weight x the plan's local score.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Sum across criteria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gives the plan's global priority.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Plan P = 0.393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highest of the three plans.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number traces back to a judgement.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 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Integrated Resource-Allocation Evaluation &amp; KPIs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A8, A9, K3 — synthesise a defensible ranking and convert the criteria weights into resource-management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Combine the AHP criteria priorities with per-criterion scores for three resource-allocation plans to produce a final synthesised ranking, then turn the criteria weights into monitoring KPIs.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synthesis table ranking Plan P (0.393) above Plan R (0.309) and Plan Q (0.299), plus a KPI dashboard weighting Cost 40%, Flexibility 30%, Delivery 22%, Quality 8%.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 Excel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synthesis table ranks Plan P = 0.393 first, then Plan R = 0.309 and Plan Q = 0.299 (sum ≈ 1.000); the KPI dashboard carries the AHP-derived weights (Cost 40%, Flexibility 30%, Delivery 22%, Quality 8%) each mapped to a measurable KPI.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HOW IT RUNS (NO CLICKS — SEE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Integrated Resource-Allocation Evaluation &amp; KPIs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Bring in criteria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 the AHP priorities…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 plans per criterion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Normalised local scores for…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Synthesise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Global score = Σ criteria…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Rank the plans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Highest global score is the…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3375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28600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57860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KPIs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Reuse the criteria weights as…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63440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63440"/>
            <a:ext cx="100584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73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657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A8, A9, K3 — synthesise a defensible ranking and convert the criteria weights into resource-management KPIs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WEIGHTED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Evidence — Integrated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977652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4892" y="1828800"/>
            <a:ext cx="1914204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8044" y="18288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096" y="1828800"/>
            <a:ext cx="1914204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2248" y="18288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Plan 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3300" y="1828800"/>
            <a:ext cx="1914204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6452" y="18288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Plan 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97504" y="1828800"/>
            <a:ext cx="1914204" cy="457200"/>
          </a:xfrm>
          <a:prstGeom prst="rect">
            <a:avLst/>
          </a:prstGeom>
          <a:solidFill>
            <a:srgbClr val="333A4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0656" y="18288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Plan 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86000"/>
            <a:ext cx="29776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2860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54892" y="2286000"/>
            <a:ext cx="19142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8044" y="22860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0.398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096" y="2286000"/>
            <a:ext cx="19142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248" y="22860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0.54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3300" y="2286000"/>
            <a:ext cx="19142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6452" y="22860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97504" y="2286000"/>
            <a:ext cx="19142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0656" y="22860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743200"/>
            <a:ext cx="29776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27432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54892" y="2743200"/>
            <a:ext cx="191420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28044" y="27432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0.085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096" y="2743200"/>
            <a:ext cx="191420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42248" y="27432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3300" y="2743200"/>
            <a:ext cx="191420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56452" y="27432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97504" y="2743200"/>
            <a:ext cx="191420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0656" y="27432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200400"/>
            <a:ext cx="29776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32004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Delivery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54892" y="3200400"/>
            <a:ext cx="19142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28044" y="32004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0.218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096" y="3200400"/>
            <a:ext cx="19142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42248" y="32004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3300" y="3200400"/>
            <a:ext cx="19142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56452" y="32004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97504" y="3200400"/>
            <a:ext cx="19142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0656" y="32004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0.54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3657600"/>
            <a:ext cx="297765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36576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Flexibility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54892" y="3657600"/>
            <a:ext cx="191420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28044" y="36576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0.299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096" y="3657600"/>
            <a:ext cx="191420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42248" y="36576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0.33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3300" y="3657600"/>
            <a:ext cx="191420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56452" y="36576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0.33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97504" y="3657600"/>
            <a:ext cx="1914204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0656" y="36576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4114800"/>
            <a:ext cx="29776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2" y="4114800"/>
            <a:ext cx="28313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Global score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54892" y="4114800"/>
            <a:ext cx="191420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28044" y="41148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5669096" y="4114800"/>
            <a:ext cx="1914204" cy="457200"/>
          </a:xfrm>
          <a:prstGeom prst="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42248" y="41148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0.393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3300" y="4114800"/>
            <a:ext cx="1914204" cy="457200"/>
          </a:xfrm>
          <a:prstGeom prst="rect">
            <a:avLst/>
          </a:prstGeom>
          <a:solidFill>
            <a:srgbClr val="FFE4C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56452" y="41148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0.299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97504" y="4114800"/>
            <a:ext cx="1914204" cy="457200"/>
          </a:xfrm>
          <a:prstGeom prst="rect">
            <a:avLst/>
          </a:prstGeom>
          <a:solidFill>
            <a:srgbClr val="FFE4C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70656" y="4114800"/>
            <a:ext cx="17679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0.309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4718304"/>
            <a:ext cx="256032" cy="256032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6424" y="47000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Winner — Plan 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44368" y="4718304"/>
            <a:ext cx="256032" cy="256032"/>
          </a:xfrm>
          <a:prstGeom prst="rect">
            <a:avLst/>
          </a:prstGeom>
          <a:solidFill>
            <a:srgbClr val="FFE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73552" y="4700016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Global priorities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" y="5102352"/>
            <a:ext cx="10634472" cy="603504"/>
          </a:xfrm>
          <a:prstGeom prst="rect">
            <a:avLst/>
          </a:prstGeom>
          <a:solidFill>
            <a:srgbClr val="EC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77240" y="5102352"/>
            <a:ext cx="100584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51560" y="5102352"/>
            <a:ext cx="100858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EVIDENCE  </a:t>
            </a:r>
            <a:r>
              <a:rPr sz="1200" b="0">
                <a:solidFill>
                  <a:srgbClr val="161B26"/>
                </a:solidFill>
                <a:latin typeface="Arial"/>
              </a:rPr>
              <a:t>Global = Σ weight × local score. Plan P wins (0.393); the ranking is fully traceable to the AHP criteria weights.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Evidence — Final Allocation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Plan P is the recommended resource allocation, ahead of Plan R and Plan Q — a defensible, weight-driven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LAB 8 · A9 — KPIs FROM THE SAME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Resource-Management KPIs from the AHP Weights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Cost — 40%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Cost variance vs budget; target ≤ 5% 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Flexibility — 30%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 to re-allocate resources; target &lt; 2 days.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 — 22%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On-time delivery rate; target ≥ 95%.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 — 8%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Defect / rework rate; target ≤ 2%.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03 · A5 · A6 · A8 — CLOSING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Monitor-Review-Reallocate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2370582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2370582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57860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211455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218770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Weighted by the AHP priorities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3375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286000"/>
            <a:ext cx="2370582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286000"/>
            <a:ext cx="2370582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57860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218688"/>
            <a:ext cx="211455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40480"/>
            <a:ext cx="218770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Measure each KPI on a cadence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3375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286000"/>
            <a:ext cx="2370582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286000"/>
            <a:ext cx="2370582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57860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218688"/>
            <a:ext cx="211455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40480"/>
            <a:ext cx="218770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Compare to targets &amp;…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3375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286000"/>
            <a:ext cx="2370582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286000"/>
            <a:ext cx="2370582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57860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218688"/>
            <a:ext cx="211455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Reallocate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40480"/>
            <a:ext cx="218770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Shift resources when a…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63440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63440"/>
            <a:ext cx="100584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73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657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Choosing the plan is not the end — KPIs monitor usage and trigger re-allocation, closing the resource-management loop.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 &amp;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Integrated Resource-Allocation Evaluation &amp; KPIs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synthesis table ranks Plan P = 0.393 first, then Plan R = 0.309 and Plan Q = 0.299 (sum ≈ 1.000); the KPI dashboard carries the AHP-derived weights (Cost 40%, Flexibility 30%, Delivery 22%, Quality 8%) each mapped to a measurable KPI.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 — DIAGNOSE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Global scores do not sum to ~1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Either the criteria weights or a local-score column does not sum to 1. Re-normalise before synthesising.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plan wins on one criterion but loses overall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That is correct behaviour — synthesis balances all criteria by weight, not a single strength.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3484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KPI weights ignore AHP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92040"/>
            <a:ext cx="2980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Derive KPI weights from the AHP priorities so monitoring reflects the same priorities used to choose the plan.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3 · METHOD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Choosing the Right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Is the goal a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single quantity to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optimise under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hard limits?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→ Linear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objective, linear resource constraints, known data — formulate and run Solver.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→ Decision Analysis or MCDA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Uncertainty with probabilities → Decision Analysis. Several weighted criteria → MCDA / AHP.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three methods are complementary tools — match the method to the shape of the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TOOLKIT, THREE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LP vs Decision Analysis vs MCDA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254550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193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Best when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510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Key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8270" y="1783080"/>
            <a:ext cx="240371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Course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25856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Linear Programming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193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objective + hard resource limits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510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Optimal allocation + shadow prices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8270" y="225856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Excel Solver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98648"/>
            <a:ext cx="276496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89864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Decision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193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Uncertain future with probabilities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510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Best EV; value of information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98648"/>
            <a:ext cx="26231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8270" y="289864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Decision tree / EV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38728"/>
            <a:ext cx="2764962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3538728"/>
            <a:ext cx="254550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MCDA / AHP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193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Several weighted, conflicting criteria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510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Ranked options + KPI weights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38728"/>
            <a:ext cx="262317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98270" y="3538728"/>
            <a:ext cx="240371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Scoring board / AHP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61688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361688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471416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WHY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many real projects chain them: LP to size the plan, decision analysis to handle uncertainty, AHP to weigh qualitative criteria.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TOPIC 03 · AVOID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 AHP Pitfalls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11096"/>
            <a:ext cx="47228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⚠  Non-reciprocal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86584"/>
            <a:ext cx="472287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7A3E"/>
                </a:solidFill>
                <a:latin typeface="Arial"/>
              </a:rPr>
              <a:t>Fix:  </a:t>
            </a:r>
            <a:r>
              <a:rPr sz="1100" b="0">
                <a:solidFill>
                  <a:srgbClr val="5B6372"/>
                </a:solidFill>
                <a:latin typeface="Arial"/>
              </a:rPr>
              <a:t>Enter mirror cells as =1/cell, never by hand.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1911096"/>
            <a:ext cx="47228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⚠  Ignoring a high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386584"/>
            <a:ext cx="472287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7A3E"/>
                </a:solidFill>
                <a:latin typeface="Arial"/>
              </a:rPr>
              <a:t>Fix:  </a:t>
            </a:r>
            <a:r>
              <a:rPr sz="1100" b="0">
                <a:solidFill>
                  <a:srgbClr val="5B6372"/>
                </a:solidFill>
                <a:latin typeface="Arial"/>
              </a:rPr>
              <a:t>CR &gt; 0.10 means re-judge — do not ship inconsistent weights.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24528"/>
            <a:ext cx="47228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⚠  Too many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00016"/>
            <a:ext cx="472287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7A3E"/>
                </a:solidFill>
                <a:latin typeface="Arial"/>
              </a:rPr>
              <a:t>Fix:  </a:t>
            </a:r>
            <a:r>
              <a:rPr sz="1100" b="0">
                <a:solidFill>
                  <a:srgbClr val="5B6372"/>
                </a:solidFill>
                <a:latin typeface="Arial"/>
              </a:rPr>
              <a:t>Keep to about seven; more makes pairwise comparison unreliable.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224528"/>
            <a:ext cx="47228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⚠  Averaging raw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00016"/>
            <a:ext cx="472287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7A3E"/>
                </a:solidFill>
                <a:latin typeface="Arial"/>
              </a:rPr>
              <a:t>Fix:  </a:t>
            </a:r>
            <a:r>
              <a:rPr sz="1100" b="0">
                <a:solidFill>
                  <a:srgbClr val="5B6372"/>
                </a:solidFill>
                <a:latin typeface="Arial"/>
              </a:rPr>
              <a:t>Normalise columns before averaging rows, or the priorities are wrong.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MANY DECISION-MAKERS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AHP — Aggregating Judgements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Whose weights?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Real decisions involve several stakeholders with different priorities.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Aggregate judgements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individual pairwise judgements with the geometric mean.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 aggregate priorities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Average each person's derived priority vector.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Check consistency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the group matrix's CR just as for one person.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RESTORING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Consistency Repair — Fixing a Bad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If CR &gt; 0.10, find the pair that conflicts most with the derived priorities and re-judge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suppose CR = 0.18  (&gt;0.10)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priorities imply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Cost/Delivery ~ .398/.218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>            ~ 1.8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but you entered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Cost vs Delivery = 5  (too high)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revise toward 2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Cost vs Delivery = 2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-&gt; recompute -&gt; CR = .06  (ok)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Spot the outlier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judgement most at odds with the priority ratios.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Compare to implied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Priorities imply Cost ~1.8x Delivery, not 5x.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Re-judge that 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Move it toward the implied ratio.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Recompute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One fix usually brings CR under 0.10.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3 ·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Multi-Criteria Decision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MCDA combines several weighted criteria into one defensible ranking.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scoring board (Score = Σ w·r) is quick; Supplier A won at 42 — but only just.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AHP derives criteria weights from pairwise comparison: Cost 0.398, Quality 0.085, Delivery 0.218, Flexibility 0.299.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Consistency Ratio (CR = 0.068 ≤ 0.10) confirms the judgements hang together.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Synthesis ranks Plan P first (0.393); the same weights become resource-management KPIs (A9).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Linear Programming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Formulated LP models and used Excel Solver to maximise profit, then read binding constraints, shadow prices and sensitivity ranges.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2536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2536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71246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35096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Decision Analysis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decision trees, ranked options by Expected Value, valued information (EVPI) and priced risk with Expected Utility.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67656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6765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5475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77384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Multi-Criteria Decision Analysis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Ran a scoring board, derived AHP weights with a consistency check, synthesised a ranking and set KPIs.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Continue Your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Rebuild every lab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Redo each workbook from a blank sheet until Solver, EV and AHP are automatic.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70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Apply it at 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Model one real allocation, decision or supplier choice from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25368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25368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71246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35096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 deeper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Integer programming, Monte-Carlo risk, and AHP with more criteria and alternatives.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25368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25368"/>
            <a:ext cx="91440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71246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35096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Combine methods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Chain LP → decision analysis → AHP on a single project for an end-to-end plan.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67656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67656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5475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77384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Keep the toolkit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Excel Solver, decision trees and AHP templates work on any resource problem.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67656"/>
            <a:ext cx="518007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67656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5475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77384"/>
            <a:ext cx="3973068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Ask us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Bring your own data to a follow-up clinic or the community forum.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APPLY IT AT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30-Day Action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Week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Rebuild Labs 1-3: model one product-mix problem from your own work in Solver.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Week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Rebuild Labs 4-5: draw a decision tree for a real uncertain choice and price the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Week 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Rebuild Labs 6-8: run an AHP on a supplier or project selection you face.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Week 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KPIs from your AHP weights and start the monitor-review loop.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PRACTICE EXAM  ·  exams.tertiaryinfotech.com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34472" cy="457200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929384"/>
            <a:ext cx="164592" cy="164592"/>
          </a:xfrm>
          <a:prstGeom prst="ellipse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192938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2184" y="1929384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74520" y="1874520"/>
            <a:ext cx="92628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1874520"/>
            <a:ext cx="88971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🔒  exams.tertiaryinfotech.com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50008"/>
            <a:ext cx="9902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Sharpen your readiness before the WA + 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2898648"/>
            <a:ext cx="4823460" cy="14310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2898648"/>
            <a:ext cx="82296" cy="14310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25880" y="3412998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12998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6232" y="2971800"/>
            <a:ext cx="3954780" cy="13213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Linear Programming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Formulate models, run Solver, read binding constraints &amp; shadow prices.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2492" y="2898648"/>
            <a:ext cx="4823460" cy="14310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2492" y="2898648"/>
            <a:ext cx="82296" cy="143103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5372" y="3412998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5372" y="3412998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5724" y="2971800"/>
            <a:ext cx="3954780" cy="13213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Decision Analysis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Expected Value, EVwPI / EVPI and Expected-Utility questions.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512564"/>
            <a:ext cx="4823460" cy="14310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" y="4512564"/>
            <a:ext cx="82296" cy="14310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5026914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026914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56232" y="4585716"/>
            <a:ext cx="3954780" cy="13213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Multi-Criteria Decision Analysis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Scoring boards, AHP priorities and the Consistency Ratio.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22492" y="4512564"/>
            <a:ext cx="4823460" cy="14310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2492" y="4512564"/>
            <a:ext cx="82296" cy="14310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5372" y="5026914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5372" y="5026914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5724" y="4585716"/>
            <a:ext cx="3954780" cy="13213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Timed mock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Attempt under exam conditions, then review every explanation.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WITH TERTIARY INFOTECH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6171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6171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9427464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Data Analysis and Visualisation with Microsoft Excel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8452"/>
            <a:ext cx="10634472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8452"/>
            <a:ext cx="91440" cy="7059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8709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870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18180"/>
            <a:ext cx="9427464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Business Statistics and Data Analytics with Excel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33824"/>
            <a:ext cx="10634472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33824"/>
            <a:ext cx="91440" cy="7059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71246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71246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43552"/>
            <a:ext cx="9427464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Data Analytics and Visualisation with Power BI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59196"/>
            <a:ext cx="10634472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59196"/>
            <a:ext cx="91440" cy="7059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3783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3783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68924"/>
            <a:ext cx="9427464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Project Management Essentials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84568"/>
            <a:ext cx="10634472" cy="7059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84568"/>
            <a:ext cx="91440" cy="7059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6320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6320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4296"/>
            <a:ext cx="9427464" cy="541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WSQ Python for Data Analysis and Automation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 · 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 Toolkit, Three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70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70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Optimise -&gt; Linear Programming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Maximise profit or minimise cost within hard resource limits.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2536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2536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71246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7124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35096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Decide under risk -&gt; Decision Analysis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Rank options by expected value and price uncertainty.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67656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6765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5475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547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77384"/>
            <a:ext cx="9427464" cy="1158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Evaluate -&gt; MCDA / AHP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Weigh conflicting criteria into a defensible ranking and KPIs.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or after the class, contact us below.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LMS / TMS: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 · 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short-answer knowledge questions (K1-K3).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hands-on Excel tasks across LP, DA and MCDA (A1-A9).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Assessment digital attendance (TRAQOM) before you start.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Save your workbooks and upload your answers at lms-tms.tertiaryinfotech.com.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QR code on the LMS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3375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28600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SSG assessment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3375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28600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book · 1 hour 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3375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28600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Upload your answers &amp;…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3375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286000"/>
            <a:ext cx="1819656" cy="21031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28600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57860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5786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218688"/>
            <a:ext cx="15636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the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40480"/>
            <a:ext cx="1636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Sign the Assessment Summary…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63440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63440"/>
            <a:ext cx="100584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73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657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five steps are mandatory for WSQ funding — missing the digital attendance or the TRAQOM survey can invalidate your claim.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557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557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557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92808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SSG digital-attendance QR code (TRAQOM).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691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with your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6512"/>
            <a:ext cx="5180076" cy="2093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96512"/>
            <a:ext cx="91440" cy="2093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691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06240"/>
            <a:ext cx="3973068" cy="1929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WELL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optimise resources with Linear Programming, decide under uncertainty with Decision Analysis, and evaluate with Multi-Criteria Decision Analysis — all in Excel.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Decision-Making and Resource Optimization with Linear Programming  ·  TGS-2023036656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6446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